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F38"/>
        </a:solidFill>
        <a:effectLst/>
      </p:bgPr>
    </p:bg>
    <p:spTree>
      <p:nvGrpSpPr>
        <p:cNvPr id="1" name=""/>
        <p:cNvGrpSpPr/>
        <p:nvPr/>
      </p:nvGrpSpPr>
      <p:grpSpPr>
        <a:xfrm>
          <a:off x="0" y="0"/>
          <a:ext cx="0" cy="0"/>
          <a:chOff x="0" y="0"/>
          <a:chExt cx="0" cy="0"/>
        </a:xfrm>
      </p:grpSpPr>
      <p:sp>
        <p:nvSpPr>
          <p:cNvPr id="3" name="TextBox 2"/>
          <p:cNvSpPr txBox="1"/>
          <p:nvPr/>
        </p:nvSpPr>
        <p:spPr>
          <a:xfrm>
            <a:off x="658368" y="423392"/>
            <a:ext cx="8686800" cy="685800"/>
          </a:xfrm>
          <a:prstGeom prst="rect">
            <a:avLst/>
          </a:prstGeom>
          <a:noFill/>
        </p:spPr>
        <p:txBody>
          <a:bodyPr wrap="square" lIns="54864" tIns="27432" rIns="45720" bIns="27432">
            <a:spAutoFit/>
          </a:bodyPr>
          <a:lstStyle/>
          <a:p>
            <a:r>
              <a:rPr sz="3100" b="1" dirty="0">
                <a:solidFill>
                  <a:srgbClr val="FFFFFF"/>
                </a:solidFill>
                <a:latin typeface="Aptos"/>
              </a:rPr>
              <a:t>Graph-Based Clickstream Analysis</a:t>
            </a:r>
          </a:p>
        </p:txBody>
      </p:sp>
      <p:sp>
        <p:nvSpPr>
          <p:cNvPr id="4" name="TextBox 3"/>
          <p:cNvSpPr txBox="1"/>
          <p:nvPr/>
        </p:nvSpPr>
        <p:spPr>
          <a:xfrm>
            <a:off x="731519" y="933393"/>
            <a:ext cx="8229600" cy="548640"/>
          </a:xfrm>
          <a:prstGeom prst="rect">
            <a:avLst/>
          </a:prstGeom>
          <a:noFill/>
        </p:spPr>
        <p:txBody>
          <a:bodyPr wrap="square" lIns="54864" tIns="27432" rIns="45720" bIns="27432">
            <a:spAutoFit/>
          </a:bodyPr>
          <a:lstStyle/>
          <a:p>
            <a:r>
              <a:rPr sz="2400" b="0" dirty="0">
                <a:solidFill>
                  <a:srgbClr val="FFFFFF"/>
                </a:solidFill>
                <a:latin typeface="Aptos"/>
              </a:rPr>
              <a:t>for Web Navigation and User Behavior</a:t>
            </a:r>
          </a:p>
        </p:txBody>
      </p:sp>
      <p:sp>
        <p:nvSpPr>
          <p:cNvPr id="5" name="TextBox 4"/>
          <p:cNvSpPr txBox="1"/>
          <p:nvPr/>
        </p:nvSpPr>
        <p:spPr>
          <a:xfrm>
            <a:off x="731519" y="1544657"/>
            <a:ext cx="4114800" cy="365760"/>
          </a:xfrm>
          <a:prstGeom prst="rect">
            <a:avLst/>
          </a:prstGeom>
          <a:noFill/>
        </p:spPr>
        <p:txBody>
          <a:bodyPr wrap="square" lIns="54864" tIns="27432" rIns="45720" bIns="27432">
            <a:spAutoFit/>
          </a:bodyPr>
          <a:lstStyle/>
          <a:p>
            <a:r>
              <a:rPr sz="1800" b="0" dirty="0">
                <a:solidFill>
                  <a:srgbClr val="D4E0F2"/>
                </a:solidFill>
                <a:latin typeface="Aptos"/>
              </a:rPr>
              <a:t>Project Presentation</a:t>
            </a:r>
          </a:p>
        </p:txBody>
      </p:sp>
      <p:sp>
        <p:nvSpPr>
          <p:cNvPr id="6" name="TextBox 5"/>
          <p:cNvSpPr txBox="1"/>
          <p:nvPr/>
        </p:nvSpPr>
        <p:spPr>
          <a:xfrm>
            <a:off x="783377" y="2054904"/>
            <a:ext cx="7955279" cy="286232"/>
          </a:xfrm>
          <a:prstGeom prst="rect">
            <a:avLst/>
          </a:prstGeom>
          <a:noFill/>
        </p:spPr>
        <p:txBody>
          <a:bodyPr wrap="square" lIns="54864" tIns="27432" rIns="45720" bIns="27432">
            <a:spAutoFit/>
          </a:bodyPr>
          <a:lstStyle/>
          <a:p>
            <a:r>
              <a:rPr sz="1500" b="0" dirty="0">
                <a:solidFill>
                  <a:srgbClr val="AFC3DF"/>
                </a:solidFill>
                <a:latin typeface="Aptos"/>
              </a:rPr>
              <a:t>Abstract • Objectives • Implementation • Results</a:t>
            </a:r>
          </a:p>
        </p:txBody>
      </p:sp>
      <p:sp>
        <p:nvSpPr>
          <p:cNvPr id="7" name="Oval 6"/>
          <p:cNvSpPr/>
          <p:nvPr/>
        </p:nvSpPr>
        <p:spPr>
          <a:xfrm>
            <a:off x="8229600" y="4617720"/>
            <a:ext cx="960120" cy="713232"/>
          </a:xfrm>
          <a:prstGeom prst="ellipse">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0" y="4846320"/>
            <a:ext cx="960120" cy="201168"/>
          </a:xfrm>
          <a:prstGeom prst="rect">
            <a:avLst/>
          </a:prstGeom>
          <a:noFill/>
        </p:spPr>
        <p:txBody>
          <a:bodyPr wrap="square" lIns="54864" tIns="27432" rIns="45720" bIns="27432">
            <a:spAutoFit/>
          </a:bodyPr>
          <a:lstStyle/>
          <a:p>
            <a:pPr algn="ctr"/>
            <a:r>
              <a:rPr sz="1000" b="1">
                <a:solidFill>
                  <a:srgbClr val="FFFFFF"/>
                </a:solidFill>
                <a:latin typeface="Aptos"/>
              </a:rPr>
              <a:t>Home</a:t>
            </a:r>
          </a:p>
        </p:txBody>
      </p:sp>
      <p:sp>
        <p:nvSpPr>
          <p:cNvPr id="9" name="Oval 8"/>
          <p:cNvSpPr/>
          <p:nvPr/>
        </p:nvSpPr>
        <p:spPr>
          <a:xfrm>
            <a:off x="9555480" y="3977639"/>
            <a:ext cx="960120" cy="713232"/>
          </a:xfrm>
          <a:prstGeom prst="ellipse">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55480" y="4206240"/>
            <a:ext cx="960120" cy="201168"/>
          </a:xfrm>
          <a:prstGeom prst="rect">
            <a:avLst/>
          </a:prstGeom>
          <a:noFill/>
        </p:spPr>
        <p:txBody>
          <a:bodyPr wrap="square" lIns="54864" tIns="27432" rIns="45720" bIns="27432">
            <a:spAutoFit/>
          </a:bodyPr>
          <a:lstStyle/>
          <a:p>
            <a:pPr algn="ctr"/>
            <a:r>
              <a:rPr sz="1000" b="1">
                <a:solidFill>
                  <a:srgbClr val="FFFFFF"/>
                </a:solidFill>
                <a:latin typeface="Aptos"/>
              </a:rPr>
              <a:t>Products</a:t>
            </a:r>
          </a:p>
        </p:txBody>
      </p:sp>
      <p:sp>
        <p:nvSpPr>
          <p:cNvPr id="11" name="Oval 10"/>
          <p:cNvSpPr/>
          <p:nvPr/>
        </p:nvSpPr>
        <p:spPr>
          <a:xfrm>
            <a:off x="10698480" y="4663440"/>
            <a:ext cx="960120" cy="713232"/>
          </a:xfrm>
          <a:prstGeom prst="ellipse">
            <a:avLst/>
          </a:prstGeom>
          <a:solidFill>
            <a:srgbClr val="369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98480" y="4892040"/>
            <a:ext cx="960120" cy="201168"/>
          </a:xfrm>
          <a:prstGeom prst="rect">
            <a:avLst/>
          </a:prstGeom>
          <a:noFill/>
        </p:spPr>
        <p:txBody>
          <a:bodyPr wrap="square" lIns="54864" tIns="27432" rIns="45720" bIns="27432">
            <a:spAutoFit/>
          </a:bodyPr>
          <a:lstStyle/>
          <a:p>
            <a:pPr algn="ctr"/>
            <a:r>
              <a:rPr sz="1000" b="1">
                <a:solidFill>
                  <a:srgbClr val="FFFFFF"/>
                </a:solidFill>
                <a:latin typeface="Aptos"/>
              </a:rPr>
              <a:t>Cart</a:t>
            </a:r>
          </a:p>
        </p:txBody>
      </p:sp>
      <p:cxnSp>
        <p:nvCxnSpPr>
          <p:cNvPr id="13" name="Connector 12"/>
          <p:cNvCxnSpPr/>
          <p:nvPr/>
        </p:nvCxnSpPr>
        <p:spPr>
          <a:xfrm flipV="1">
            <a:off x="9162288" y="4370832"/>
            <a:ext cx="365760" cy="338328"/>
          </a:xfrm>
          <a:prstGeom prst="line">
            <a:avLst/>
          </a:prstGeom>
          <a:ln w="25400">
            <a:solidFill>
              <a:srgbClr val="B4CDF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5600" y="4370832"/>
            <a:ext cx="201168" cy="338328"/>
          </a:xfrm>
          <a:prstGeom prst="line">
            <a:avLst/>
          </a:prstGeom>
          <a:ln w="25400">
            <a:solidFill>
              <a:srgbClr val="B4CD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68680" y="6217920"/>
            <a:ext cx="3200400" cy="228600"/>
          </a:xfrm>
          <a:prstGeom prst="rect">
            <a:avLst/>
          </a:prstGeom>
          <a:noFill/>
        </p:spPr>
        <p:txBody>
          <a:bodyPr wrap="square" lIns="54864" tIns="27432" rIns="45720" bIns="27432">
            <a:spAutoFit/>
          </a:bodyPr>
          <a:lstStyle/>
          <a:p>
            <a:r>
              <a:rPr sz="1000" b="1">
                <a:solidFill>
                  <a:srgbClr val="AFC3DF"/>
                </a:solidFill>
                <a:latin typeface="Aptos"/>
              </a:rPr>
              <a:t>Academic project</a:t>
            </a:r>
          </a:p>
        </p:txBody>
      </p:sp>
      <p:sp>
        <p:nvSpPr>
          <p:cNvPr id="16" name="TextBox 15">
            <a:extLst>
              <a:ext uri="{FF2B5EF4-FFF2-40B4-BE49-F238E27FC236}">
                <a16:creationId xmlns:a16="http://schemas.microsoft.com/office/drawing/2014/main" id="{819CCC31-B591-F6CA-41D8-DC8602423769}"/>
              </a:ext>
            </a:extLst>
          </p:cNvPr>
          <p:cNvSpPr txBox="1"/>
          <p:nvPr/>
        </p:nvSpPr>
        <p:spPr>
          <a:xfrm>
            <a:off x="731519" y="3072410"/>
            <a:ext cx="4887744" cy="2031325"/>
          </a:xfrm>
          <a:prstGeom prst="rect">
            <a:avLst/>
          </a:prstGeom>
          <a:noFill/>
        </p:spPr>
        <p:txBody>
          <a:bodyPr wrap="square" rtlCol="0">
            <a:spAutoFit/>
          </a:bodyPr>
          <a:lstStyle/>
          <a:p>
            <a:pPr algn="just"/>
            <a:r>
              <a:rPr lang="en-US" dirty="0">
                <a:solidFill>
                  <a:schemeClr val="bg1"/>
                </a:solidFill>
              </a:rPr>
              <a:t>GRAPH AND WEB ANALYTICS – SEC 4</a:t>
            </a:r>
          </a:p>
          <a:p>
            <a:pPr algn="just"/>
            <a:br>
              <a:rPr lang="en-US" dirty="0">
                <a:solidFill>
                  <a:schemeClr val="bg1"/>
                </a:solidFill>
              </a:rPr>
            </a:br>
            <a:r>
              <a:rPr lang="en-US" dirty="0">
                <a:solidFill>
                  <a:schemeClr val="bg1"/>
                </a:solidFill>
              </a:rPr>
              <a:t>TEAM MEMBERS:</a:t>
            </a:r>
          </a:p>
          <a:p>
            <a:pPr algn="just"/>
            <a:endParaRPr lang="en-US" dirty="0">
              <a:solidFill>
                <a:schemeClr val="bg1"/>
              </a:solidFill>
            </a:endParaRPr>
          </a:p>
          <a:p>
            <a:pPr algn="just"/>
            <a:r>
              <a:rPr lang="en-US" dirty="0">
                <a:solidFill>
                  <a:schemeClr val="bg1"/>
                </a:solidFill>
              </a:rPr>
              <a:t>G SHEETAL – 2320030092</a:t>
            </a:r>
          </a:p>
          <a:p>
            <a:pPr algn="just"/>
            <a:r>
              <a:rPr lang="en-US" dirty="0">
                <a:solidFill>
                  <a:schemeClr val="bg1"/>
                </a:solidFill>
              </a:rPr>
              <a:t>R BRAMHANI – 2320030104</a:t>
            </a:r>
          </a:p>
          <a:p>
            <a:pPr algn="just"/>
            <a:r>
              <a:rPr lang="en-US" dirty="0">
                <a:solidFill>
                  <a:schemeClr val="bg1"/>
                </a:solidFill>
              </a:rPr>
              <a:t>P RAGA AMRURTHA RATNA - 2320030355</a:t>
            </a:r>
            <a:endParaRPr lang="en-I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789920" cy="502920"/>
          </a:xfrm>
          <a:prstGeom prst="rect">
            <a:avLst/>
          </a:prstGeom>
          <a:noFill/>
        </p:spPr>
        <p:txBody>
          <a:bodyPr wrap="square" lIns="54864" tIns="27432" rIns="45720" bIns="27432">
            <a:spAutoFit/>
          </a:bodyPr>
          <a:lstStyle/>
          <a:p>
            <a:r>
              <a:rPr sz="2700" b="1">
                <a:solidFill>
                  <a:srgbClr val="121F38"/>
                </a:solidFill>
                <a:latin typeface="Aptos"/>
              </a:rPr>
              <a:t>Abstract</a:t>
            </a:r>
          </a:p>
        </p:txBody>
      </p:sp>
      <p:sp>
        <p:nvSpPr>
          <p:cNvPr id="3" name="Rectangle 2"/>
          <p:cNvSpPr/>
          <p:nvPr/>
        </p:nvSpPr>
        <p:spPr>
          <a:xfrm>
            <a:off x="640080" y="932688"/>
            <a:ext cx="749808" cy="54864"/>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473952"/>
            <a:ext cx="2743200" cy="182880"/>
          </a:xfrm>
          <a:prstGeom prst="rect">
            <a:avLst/>
          </a:prstGeom>
          <a:noFill/>
        </p:spPr>
        <p:txBody>
          <a:bodyPr wrap="square" lIns="54864" tIns="27432" rIns="45720" bIns="27432">
            <a:spAutoFit/>
          </a:bodyPr>
          <a:lstStyle/>
          <a:p>
            <a:r>
              <a:rPr sz="900" b="1">
                <a:solidFill>
                  <a:srgbClr val="647387"/>
                </a:solidFill>
                <a:latin typeface="Aptos"/>
              </a:rPr>
              <a:t>WEBGRAPH ANALYTICS</a:t>
            </a:r>
          </a:p>
        </p:txBody>
      </p:sp>
      <p:sp>
        <p:nvSpPr>
          <p:cNvPr id="5" name="TextBox 4"/>
          <p:cNvSpPr txBox="1"/>
          <p:nvPr/>
        </p:nvSpPr>
        <p:spPr>
          <a:xfrm>
            <a:off x="11155680" y="6473952"/>
            <a:ext cx="411480" cy="182880"/>
          </a:xfrm>
          <a:prstGeom prst="rect">
            <a:avLst/>
          </a:prstGeom>
          <a:noFill/>
        </p:spPr>
        <p:txBody>
          <a:bodyPr wrap="square" lIns="54864" tIns="27432" rIns="45720" bIns="27432">
            <a:spAutoFit/>
          </a:bodyPr>
          <a:lstStyle/>
          <a:p>
            <a:pPr algn="r"/>
            <a:r>
              <a:rPr sz="1000" b="1">
                <a:solidFill>
                  <a:srgbClr val="647387"/>
                </a:solidFill>
                <a:latin typeface="Aptos"/>
              </a:rPr>
              <a:t>02</a:t>
            </a:r>
          </a:p>
        </p:txBody>
      </p:sp>
      <p:sp>
        <p:nvSpPr>
          <p:cNvPr id="6" name="TextBox 5"/>
          <p:cNvSpPr txBox="1"/>
          <p:nvPr/>
        </p:nvSpPr>
        <p:spPr>
          <a:xfrm>
            <a:off x="822960" y="1371600"/>
            <a:ext cx="10515600" cy="2743200"/>
          </a:xfrm>
          <a:prstGeom prst="rect">
            <a:avLst/>
          </a:prstGeom>
          <a:noFill/>
        </p:spPr>
        <p:txBody>
          <a:bodyPr wrap="square" lIns="54864" tIns="27432" rIns="45720" bIns="27432">
            <a:spAutoFit/>
          </a:bodyPr>
          <a:lstStyle/>
          <a:p>
            <a:r>
              <a:rPr sz="1900" b="0">
                <a:solidFill>
                  <a:srgbClr val="283446"/>
                </a:solidFill>
                <a:latin typeface="Aptos"/>
              </a:rPr>
              <a:t>WebGraph Analytics is a Streamlit-based dashboard that analyzes how users navigate between webpages using clickstream data. The system prepares page-view records, orders visits chronologically, and identifies transitions between consecutive pages. These transitions are represented as a directed graph, where webpages are nodes, movements are edges, and transition frequency is the edge weight. Graph algorithms such as Dijkstra’s shortest path, centrality measures, PageRank, and community detection help explore page relationships and navigation patterns. The dashboard also presents web analytics visualizations, accepts CSV and Excel uploads, and supports downloading analysis outputs as CSV files.</a:t>
            </a:r>
          </a:p>
        </p:txBody>
      </p:sp>
      <p:sp>
        <p:nvSpPr>
          <p:cNvPr id="7" name="Rounded Rectangle 6"/>
          <p:cNvSpPr/>
          <p:nvPr/>
        </p:nvSpPr>
        <p:spPr>
          <a:xfrm>
            <a:off x="822960" y="4572000"/>
            <a:ext cx="3246120" cy="100584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4617720"/>
            <a:ext cx="64008" cy="914400"/>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4700016"/>
            <a:ext cx="2880360" cy="310896"/>
          </a:xfrm>
          <a:prstGeom prst="rect">
            <a:avLst/>
          </a:prstGeom>
          <a:noFill/>
        </p:spPr>
        <p:txBody>
          <a:bodyPr wrap="square" lIns="54864" tIns="27432" rIns="45720" bIns="27432">
            <a:spAutoFit/>
          </a:bodyPr>
          <a:lstStyle/>
          <a:p>
            <a:r>
              <a:rPr sz="1600" b="1">
                <a:solidFill>
                  <a:srgbClr val="121F38"/>
                </a:solidFill>
                <a:latin typeface="Aptos"/>
              </a:rPr>
              <a:t>Input</a:t>
            </a:r>
          </a:p>
        </p:txBody>
      </p:sp>
      <p:sp>
        <p:nvSpPr>
          <p:cNvPr id="10" name="TextBox 9"/>
          <p:cNvSpPr txBox="1"/>
          <p:nvPr/>
        </p:nvSpPr>
        <p:spPr>
          <a:xfrm>
            <a:off x="1024128" y="5065776"/>
            <a:ext cx="2880360" cy="438912"/>
          </a:xfrm>
          <a:prstGeom prst="rect">
            <a:avLst/>
          </a:prstGeom>
          <a:noFill/>
        </p:spPr>
        <p:txBody>
          <a:bodyPr wrap="square" lIns="54864" tIns="27432" rIns="45720" bIns="27432">
            <a:spAutoFit/>
          </a:bodyPr>
          <a:lstStyle/>
          <a:p>
            <a:r>
              <a:rPr sz="1300" b="0">
                <a:solidFill>
                  <a:srgbClr val="283446"/>
                </a:solidFill>
                <a:latin typeface="Aptos"/>
              </a:rPr>
              <a:t>Clickstream records and page visits</a:t>
            </a:r>
          </a:p>
        </p:txBody>
      </p:sp>
      <p:sp>
        <p:nvSpPr>
          <p:cNvPr id="11" name="Rounded Rectangle 10"/>
          <p:cNvSpPr/>
          <p:nvPr/>
        </p:nvSpPr>
        <p:spPr>
          <a:xfrm>
            <a:off x="4434840" y="4572000"/>
            <a:ext cx="3246120" cy="100584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4617720"/>
            <a:ext cx="64008" cy="914400"/>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4700016"/>
            <a:ext cx="2880360" cy="310896"/>
          </a:xfrm>
          <a:prstGeom prst="rect">
            <a:avLst/>
          </a:prstGeom>
          <a:noFill/>
        </p:spPr>
        <p:txBody>
          <a:bodyPr wrap="square" lIns="54864" tIns="27432" rIns="45720" bIns="27432">
            <a:spAutoFit/>
          </a:bodyPr>
          <a:lstStyle/>
          <a:p>
            <a:r>
              <a:rPr sz="1600" b="1">
                <a:solidFill>
                  <a:srgbClr val="121F38"/>
                </a:solidFill>
                <a:latin typeface="Aptos"/>
              </a:rPr>
              <a:t>Processing</a:t>
            </a:r>
          </a:p>
        </p:txBody>
      </p:sp>
      <p:sp>
        <p:nvSpPr>
          <p:cNvPr id="14" name="TextBox 13"/>
          <p:cNvSpPr txBox="1"/>
          <p:nvPr/>
        </p:nvSpPr>
        <p:spPr>
          <a:xfrm>
            <a:off x="4636007" y="5065776"/>
            <a:ext cx="2880360" cy="438912"/>
          </a:xfrm>
          <a:prstGeom prst="rect">
            <a:avLst/>
          </a:prstGeom>
          <a:noFill/>
        </p:spPr>
        <p:txBody>
          <a:bodyPr wrap="square" lIns="54864" tIns="27432" rIns="45720" bIns="27432">
            <a:spAutoFit/>
          </a:bodyPr>
          <a:lstStyle/>
          <a:p>
            <a:r>
              <a:rPr sz="1300" b="0">
                <a:solidFill>
                  <a:srgbClr val="283446"/>
                </a:solidFill>
                <a:latin typeface="Aptos"/>
              </a:rPr>
              <a:t>Journeys and graph analytics</a:t>
            </a:r>
          </a:p>
        </p:txBody>
      </p:sp>
      <p:sp>
        <p:nvSpPr>
          <p:cNvPr id="15" name="Rounded Rectangle 14"/>
          <p:cNvSpPr/>
          <p:nvPr/>
        </p:nvSpPr>
        <p:spPr>
          <a:xfrm>
            <a:off x="8046720" y="4572000"/>
            <a:ext cx="3246120" cy="100584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4617720"/>
            <a:ext cx="64008" cy="914400"/>
          </a:xfrm>
          <a:prstGeom prst="rect">
            <a:avLst/>
          </a:prstGeom>
          <a:solidFill>
            <a:srgbClr val="369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4700016"/>
            <a:ext cx="2880360" cy="310896"/>
          </a:xfrm>
          <a:prstGeom prst="rect">
            <a:avLst/>
          </a:prstGeom>
          <a:noFill/>
        </p:spPr>
        <p:txBody>
          <a:bodyPr wrap="square" lIns="54864" tIns="27432" rIns="45720" bIns="27432">
            <a:spAutoFit/>
          </a:bodyPr>
          <a:lstStyle/>
          <a:p>
            <a:r>
              <a:rPr sz="1600" b="1">
                <a:solidFill>
                  <a:srgbClr val="121F38"/>
                </a:solidFill>
                <a:latin typeface="Aptos"/>
              </a:rPr>
              <a:t>Output</a:t>
            </a:r>
          </a:p>
        </p:txBody>
      </p:sp>
      <p:sp>
        <p:nvSpPr>
          <p:cNvPr id="18" name="TextBox 17"/>
          <p:cNvSpPr txBox="1"/>
          <p:nvPr/>
        </p:nvSpPr>
        <p:spPr>
          <a:xfrm>
            <a:off x="8247888" y="5065776"/>
            <a:ext cx="2880360" cy="438912"/>
          </a:xfrm>
          <a:prstGeom prst="rect">
            <a:avLst/>
          </a:prstGeom>
          <a:noFill/>
        </p:spPr>
        <p:txBody>
          <a:bodyPr wrap="square" lIns="54864" tIns="27432" rIns="45720" bIns="27432">
            <a:spAutoFit/>
          </a:bodyPr>
          <a:lstStyle/>
          <a:p>
            <a:r>
              <a:rPr sz="1300" b="0">
                <a:solidFill>
                  <a:srgbClr val="283446"/>
                </a:solidFill>
                <a:latin typeface="Aptos"/>
              </a:rPr>
              <a:t>Interactive dashboard and CSV 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789920" cy="502920"/>
          </a:xfrm>
          <a:prstGeom prst="rect">
            <a:avLst/>
          </a:prstGeom>
          <a:noFill/>
        </p:spPr>
        <p:txBody>
          <a:bodyPr wrap="square" lIns="54864" tIns="27432" rIns="45720" bIns="27432">
            <a:spAutoFit/>
          </a:bodyPr>
          <a:lstStyle/>
          <a:p>
            <a:r>
              <a:rPr sz="2700" b="1">
                <a:solidFill>
                  <a:srgbClr val="121F38"/>
                </a:solidFill>
                <a:latin typeface="Aptos"/>
              </a:rPr>
              <a:t>Problem Statement</a:t>
            </a:r>
          </a:p>
        </p:txBody>
      </p:sp>
      <p:sp>
        <p:nvSpPr>
          <p:cNvPr id="3" name="Rectangle 2"/>
          <p:cNvSpPr/>
          <p:nvPr/>
        </p:nvSpPr>
        <p:spPr>
          <a:xfrm>
            <a:off x="640080" y="932688"/>
            <a:ext cx="749808" cy="54864"/>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473952"/>
            <a:ext cx="2743200" cy="182880"/>
          </a:xfrm>
          <a:prstGeom prst="rect">
            <a:avLst/>
          </a:prstGeom>
          <a:noFill/>
        </p:spPr>
        <p:txBody>
          <a:bodyPr wrap="square" lIns="54864" tIns="27432" rIns="45720" bIns="27432">
            <a:spAutoFit/>
          </a:bodyPr>
          <a:lstStyle/>
          <a:p>
            <a:r>
              <a:rPr sz="900" b="1">
                <a:solidFill>
                  <a:srgbClr val="647387"/>
                </a:solidFill>
                <a:latin typeface="Aptos"/>
              </a:rPr>
              <a:t>WEBGRAPH ANALYTICS</a:t>
            </a:r>
          </a:p>
        </p:txBody>
      </p:sp>
      <p:sp>
        <p:nvSpPr>
          <p:cNvPr id="5" name="TextBox 4"/>
          <p:cNvSpPr txBox="1"/>
          <p:nvPr/>
        </p:nvSpPr>
        <p:spPr>
          <a:xfrm>
            <a:off x="11155680" y="6473952"/>
            <a:ext cx="411480" cy="182880"/>
          </a:xfrm>
          <a:prstGeom prst="rect">
            <a:avLst/>
          </a:prstGeom>
          <a:noFill/>
        </p:spPr>
        <p:txBody>
          <a:bodyPr wrap="square" lIns="54864" tIns="27432" rIns="45720" bIns="27432">
            <a:spAutoFit/>
          </a:bodyPr>
          <a:lstStyle/>
          <a:p>
            <a:pPr algn="r"/>
            <a:r>
              <a:rPr sz="1000" b="1">
                <a:solidFill>
                  <a:srgbClr val="647387"/>
                </a:solidFill>
                <a:latin typeface="Aptos"/>
              </a:rPr>
              <a:t>03</a:t>
            </a:r>
          </a:p>
        </p:txBody>
      </p:sp>
      <p:sp>
        <p:nvSpPr>
          <p:cNvPr id="6" name="TextBox 5"/>
          <p:cNvSpPr txBox="1"/>
          <p:nvPr/>
        </p:nvSpPr>
        <p:spPr>
          <a:xfrm>
            <a:off x="822960" y="1325880"/>
            <a:ext cx="2926080" cy="365760"/>
          </a:xfrm>
          <a:prstGeom prst="rect">
            <a:avLst/>
          </a:prstGeom>
          <a:noFill/>
        </p:spPr>
        <p:txBody>
          <a:bodyPr wrap="square" lIns="54864" tIns="27432" rIns="45720" bIns="27432">
            <a:spAutoFit/>
          </a:bodyPr>
          <a:lstStyle/>
          <a:p>
            <a:r>
              <a:rPr sz="2100" b="1">
                <a:solidFill>
                  <a:srgbClr val="2E6FD6"/>
                </a:solidFill>
                <a:latin typeface="Aptos"/>
              </a:rPr>
              <a:t>The challenge</a:t>
            </a:r>
          </a:p>
        </p:txBody>
      </p:sp>
      <p:sp>
        <p:nvSpPr>
          <p:cNvPr id="7" name="TextBox 6"/>
          <p:cNvSpPr txBox="1"/>
          <p:nvPr/>
        </p:nvSpPr>
        <p:spPr>
          <a:xfrm>
            <a:off x="822960" y="1783080"/>
            <a:ext cx="4937760" cy="1325880"/>
          </a:xfrm>
          <a:prstGeom prst="rect">
            <a:avLst/>
          </a:prstGeom>
          <a:noFill/>
        </p:spPr>
        <p:txBody>
          <a:bodyPr wrap="square" lIns="54864" tIns="27432" rIns="45720" bIns="27432">
            <a:spAutoFit/>
          </a:bodyPr>
          <a:lstStyle/>
          <a:p>
            <a:r>
              <a:rPr sz="1900" b="0">
                <a:solidFill>
                  <a:srgbClr val="283446"/>
                </a:solidFill>
                <a:latin typeface="Aptos"/>
              </a:rPr>
              <a:t>Traditional analytics commonly summarizes page views, users, sessions and traffic sources. Raw clickstream records do not always make relationships between consecutive page visits easy to explore.</a:t>
            </a:r>
          </a:p>
        </p:txBody>
      </p:sp>
      <p:sp>
        <p:nvSpPr>
          <p:cNvPr id="8" name="TextBox 7"/>
          <p:cNvSpPr txBox="1"/>
          <p:nvPr/>
        </p:nvSpPr>
        <p:spPr>
          <a:xfrm>
            <a:off x="6217920" y="1325880"/>
            <a:ext cx="3200400" cy="365760"/>
          </a:xfrm>
          <a:prstGeom prst="rect">
            <a:avLst/>
          </a:prstGeom>
          <a:noFill/>
        </p:spPr>
        <p:txBody>
          <a:bodyPr wrap="square" lIns="54864" tIns="27432" rIns="45720" bIns="27432">
            <a:spAutoFit/>
          </a:bodyPr>
          <a:lstStyle/>
          <a:p>
            <a:r>
              <a:rPr sz="2100" b="1">
                <a:solidFill>
                  <a:srgbClr val="2E6FD6"/>
                </a:solidFill>
                <a:latin typeface="Aptos"/>
              </a:rPr>
              <a:t>Why it matters</a:t>
            </a:r>
          </a:p>
        </p:txBody>
      </p:sp>
      <p:sp>
        <p:nvSpPr>
          <p:cNvPr id="9" name="TextBox 8"/>
          <p:cNvSpPr txBox="1"/>
          <p:nvPr/>
        </p:nvSpPr>
        <p:spPr>
          <a:xfrm>
            <a:off x="6217920" y="1783080"/>
            <a:ext cx="4937760" cy="2468880"/>
          </a:xfrm>
          <a:prstGeom prst="rect">
            <a:avLst/>
          </a:prstGeom>
          <a:noFill/>
        </p:spPr>
        <p:txBody>
          <a:bodyPr wrap="square" lIns="73152" tIns="18288" rIns="45720">
            <a:spAutoFit/>
          </a:bodyPr>
          <a:lstStyle/>
          <a:p>
            <a:pPr>
              <a:spcAft>
                <a:spcPts val="1000"/>
              </a:spcAft>
              <a:defRPr sz="1600">
                <a:solidFill>
                  <a:srgbClr val="283446"/>
                </a:solidFill>
                <a:latin typeface="Aptos"/>
              </a:defRPr>
            </a:pPr>
            <a:r>
              <a:t>Navigation paths can be difficult to understand from raw rows.</a:t>
            </a:r>
          </a:p>
          <a:p>
            <a:pPr>
              <a:spcAft>
                <a:spcPts val="1000"/>
              </a:spcAft>
              <a:defRPr sz="1600">
                <a:solidFill>
                  <a:srgbClr val="283446"/>
                </a:solidFill>
                <a:latin typeface="Aptos"/>
              </a:defRPr>
            </a:pPr>
            <a:r>
              <a:t>Important or connecting webpages may not be obvious.</a:t>
            </a:r>
          </a:p>
          <a:p>
            <a:pPr>
              <a:spcAft>
                <a:spcPts val="1000"/>
              </a:spcAft>
              <a:defRPr sz="1600">
                <a:solidFill>
                  <a:srgbClr val="283446"/>
                </a:solidFill>
                <a:latin typeface="Aptos"/>
              </a:defRPr>
            </a:pPr>
            <a:r>
              <a:t>Related groups of pages can be hard to identify visually.</a:t>
            </a:r>
          </a:p>
          <a:p>
            <a:pPr>
              <a:spcAft>
                <a:spcPts val="1000"/>
              </a:spcAft>
              <a:defRPr sz="1600">
                <a:solidFill>
                  <a:srgbClr val="283446"/>
                </a:solidFill>
                <a:latin typeface="Aptos"/>
              </a:defRPr>
            </a:pPr>
            <a:r>
              <a:t>Analysts need a clear way to inspect page-to-page transitions.</a:t>
            </a:r>
          </a:p>
        </p:txBody>
      </p:sp>
      <p:sp>
        <p:nvSpPr>
          <p:cNvPr id="10" name="Rounded Rectangle 9"/>
          <p:cNvSpPr/>
          <p:nvPr/>
        </p:nvSpPr>
        <p:spPr>
          <a:xfrm>
            <a:off x="822960" y="4434840"/>
            <a:ext cx="10515600" cy="96012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4480559"/>
            <a:ext cx="64008" cy="868680"/>
          </a:xfrm>
          <a:prstGeom prst="rect">
            <a:avLst/>
          </a:prstGeom>
          <a:solidFill>
            <a:srgbClr val="E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 y="4562855"/>
            <a:ext cx="10149840" cy="310896"/>
          </a:xfrm>
          <a:prstGeom prst="rect">
            <a:avLst/>
          </a:prstGeom>
          <a:noFill/>
        </p:spPr>
        <p:txBody>
          <a:bodyPr wrap="square" lIns="54864" tIns="27432" rIns="45720" bIns="27432">
            <a:spAutoFit/>
          </a:bodyPr>
          <a:lstStyle/>
          <a:p>
            <a:r>
              <a:rPr sz="1700" b="1">
                <a:solidFill>
                  <a:srgbClr val="121F38"/>
                </a:solidFill>
                <a:latin typeface="Aptos"/>
              </a:rPr>
              <a:t>Problem to solve</a:t>
            </a:r>
          </a:p>
        </p:txBody>
      </p:sp>
      <p:sp>
        <p:nvSpPr>
          <p:cNvPr id="13" name="TextBox 12"/>
          <p:cNvSpPr txBox="1"/>
          <p:nvPr/>
        </p:nvSpPr>
        <p:spPr>
          <a:xfrm>
            <a:off x="1024128" y="4928616"/>
            <a:ext cx="10149840" cy="393192"/>
          </a:xfrm>
          <a:prstGeom prst="rect">
            <a:avLst/>
          </a:prstGeom>
          <a:noFill/>
        </p:spPr>
        <p:txBody>
          <a:bodyPr wrap="square" lIns="54864" tIns="27432" rIns="45720" bIns="27432">
            <a:spAutoFit/>
          </a:bodyPr>
          <a:lstStyle/>
          <a:p>
            <a:r>
              <a:rPr sz="1400" b="0">
                <a:solidFill>
                  <a:srgbClr val="283446"/>
                </a:solidFill>
                <a:latin typeface="Aptos"/>
              </a:rPr>
              <a:t>Transform clickstream records into a graph that reveals page-to-page relationships and supports navigation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789920" cy="502920"/>
          </a:xfrm>
          <a:prstGeom prst="rect">
            <a:avLst/>
          </a:prstGeom>
          <a:noFill/>
        </p:spPr>
        <p:txBody>
          <a:bodyPr wrap="square" lIns="54864" tIns="27432" rIns="45720" bIns="27432">
            <a:spAutoFit/>
          </a:bodyPr>
          <a:lstStyle/>
          <a:p>
            <a:r>
              <a:rPr sz="2700" b="1">
                <a:solidFill>
                  <a:srgbClr val="121F38"/>
                </a:solidFill>
                <a:latin typeface="Aptos"/>
              </a:rPr>
              <a:t>Project Objectives</a:t>
            </a:r>
          </a:p>
        </p:txBody>
      </p:sp>
      <p:sp>
        <p:nvSpPr>
          <p:cNvPr id="3" name="Rectangle 2"/>
          <p:cNvSpPr/>
          <p:nvPr/>
        </p:nvSpPr>
        <p:spPr>
          <a:xfrm>
            <a:off x="640080" y="932688"/>
            <a:ext cx="749808" cy="54864"/>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473952"/>
            <a:ext cx="2743200" cy="182880"/>
          </a:xfrm>
          <a:prstGeom prst="rect">
            <a:avLst/>
          </a:prstGeom>
          <a:noFill/>
        </p:spPr>
        <p:txBody>
          <a:bodyPr wrap="square" lIns="54864" tIns="27432" rIns="45720" bIns="27432">
            <a:spAutoFit/>
          </a:bodyPr>
          <a:lstStyle/>
          <a:p>
            <a:r>
              <a:rPr sz="900" b="1">
                <a:solidFill>
                  <a:srgbClr val="647387"/>
                </a:solidFill>
                <a:latin typeface="Aptos"/>
              </a:rPr>
              <a:t>WEBGRAPH ANALYTICS</a:t>
            </a:r>
          </a:p>
        </p:txBody>
      </p:sp>
      <p:sp>
        <p:nvSpPr>
          <p:cNvPr id="5" name="TextBox 4"/>
          <p:cNvSpPr txBox="1"/>
          <p:nvPr/>
        </p:nvSpPr>
        <p:spPr>
          <a:xfrm>
            <a:off x="11155680" y="6473952"/>
            <a:ext cx="411480" cy="182880"/>
          </a:xfrm>
          <a:prstGeom prst="rect">
            <a:avLst/>
          </a:prstGeom>
          <a:noFill/>
        </p:spPr>
        <p:txBody>
          <a:bodyPr wrap="square" lIns="54864" tIns="27432" rIns="45720" bIns="27432">
            <a:spAutoFit/>
          </a:bodyPr>
          <a:lstStyle/>
          <a:p>
            <a:pPr algn="r"/>
            <a:r>
              <a:rPr sz="1000" b="1">
                <a:solidFill>
                  <a:srgbClr val="647387"/>
                </a:solidFill>
                <a:latin typeface="Aptos"/>
              </a:rPr>
              <a:t>04</a:t>
            </a:r>
          </a:p>
        </p:txBody>
      </p:sp>
      <p:sp>
        <p:nvSpPr>
          <p:cNvPr id="6" name="Rounded Rectangle 5"/>
          <p:cNvSpPr/>
          <p:nvPr/>
        </p:nvSpPr>
        <p:spPr>
          <a:xfrm>
            <a:off x="777240" y="1417320"/>
            <a:ext cx="338328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463040"/>
            <a:ext cx="64008" cy="1234439"/>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545336"/>
            <a:ext cx="3017520" cy="310896"/>
          </a:xfrm>
          <a:prstGeom prst="rect">
            <a:avLst/>
          </a:prstGeom>
          <a:noFill/>
        </p:spPr>
        <p:txBody>
          <a:bodyPr wrap="square" lIns="54864" tIns="27432" rIns="45720" bIns="27432">
            <a:spAutoFit/>
          </a:bodyPr>
          <a:lstStyle/>
          <a:p>
            <a:r>
              <a:rPr sz="1500" b="1">
                <a:solidFill>
                  <a:srgbClr val="121F38"/>
                </a:solidFill>
                <a:latin typeface="Aptos"/>
              </a:rPr>
              <a:t>Analyze journeys</a:t>
            </a:r>
          </a:p>
        </p:txBody>
      </p:sp>
      <p:sp>
        <p:nvSpPr>
          <p:cNvPr id="9" name="TextBox 8"/>
          <p:cNvSpPr txBox="1"/>
          <p:nvPr/>
        </p:nvSpPr>
        <p:spPr>
          <a:xfrm>
            <a:off x="978408" y="1911095"/>
            <a:ext cx="3017520" cy="758952"/>
          </a:xfrm>
          <a:prstGeom prst="rect">
            <a:avLst/>
          </a:prstGeom>
          <a:noFill/>
        </p:spPr>
        <p:txBody>
          <a:bodyPr wrap="square" lIns="54864" tIns="27432" rIns="45720" bIns="27432">
            <a:spAutoFit/>
          </a:bodyPr>
          <a:lstStyle/>
          <a:p>
            <a:r>
              <a:rPr sz="1200" b="0">
                <a:solidFill>
                  <a:srgbClr val="283446"/>
                </a:solidFill>
                <a:latin typeface="Aptos"/>
              </a:rPr>
              <a:t>Organize page visits in chronological order.</a:t>
            </a:r>
          </a:p>
        </p:txBody>
      </p:sp>
      <p:sp>
        <p:nvSpPr>
          <p:cNvPr id="10" name="Rounded Rectangle 9"/>
          <p:cNvSpPr/>
          <p:nvPr/>
        </p:nvSpPr>
        <p:spPr>
          <a:xfrm>
            <a:off x="4526279" y="1417320"/>
            <a:ext cx="338328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26279" y="1463040"/>
            <a:ext cx="64008" cy="1234439"/>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27447" y="1545336"/>
            <a:ext cx="3017520" cy="310896"/>
          </a:xfrm>
          <a:prstGeom prst="rect">
            <a:avLst/>
          </a:prstGeom>
          <a:noFill/>
        </p:spPr>
        <p:txBody>
          <a:bodyPr wrap="square" lIns="54864" tIns="27432" rIns="45720" bIns="27432">
            <a:spAutoFit/>
          </a:bodyPr>
          <a:lstStyle/>
          <a:p>
            <a:r>
              <a:rPr sz="1500" b="1">
                <a:solidFill>
                  <a:srgbClr val="121F38"/>
                </a:solidFill>
                <a:latin typeface="Aptos"/>
              </a:rPr>
              <a:t>Build a graph</a:t>
            </a:r>
          </a:p>
        </p:txBody>
      </p:sp>
      <p:sp>
        <p:nvSpPr>
          <p:cNvPr id="13" name="TextBox 12"/>
          <p:cNvSpPr txBox="1"/>
          <p:nvPr/>
        </p:nvSpPr>
        <p:spPr>
          <a:xfrm>
            <a:off x="4727447" y="1911095"/>
            <a:ext cx="3017520" cy="758952"/>
          </a:xfrm>
          <a:prstGeom prst="rect">
            <a:avLst/>
          </a:prstGeom>
          <a:noFill/>
        </p:spPr>
        <p:txBody>
          <a:bodyPr wrap="square" lIns="54864" tIns="27432" rIns="45720" bIns="27432">
            <a:spAutoFit/>
          </a:bodyPr>
          <a:lstStyle/>
          <a:p>
            <a:r>
              <a:rPr sz="1200" b="0">
                <a:solidFill>
                  <a:srgbClr val="283446"/>
                </a:solidFill>
                <a:latin typeface="Aptos"/>
              </a:rPr>
              <a:t>Represent pages as nodes and transitions as weighted directed edges.</a:t>
            </a:r>
          </a:p>
        </p:txBody>
      </p:sp>
      <p:sp>
        <p:nvSpPr>
          <p:cNvPr id="14" name="Rounded Rectangle 13"/>
          <p:cNvSpPr/>
          <p:nvPr/>
        </p:nvSpPr>
        <p:spPr>
          <a:xfrm>
            <a:off x="8275319" y="1417320"/>
            <a:ext cx="338328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19" y="1463040"/>
            <a:ext cx="64008" cy="1234439"/>
          </a:xfrm>
          <a:prstGeom prst="rect">
            <a:avLst/>
          </a:prstGeom>
          <a:solidFill>
            <a:srgbClr val="369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76488" y="1545336"/>
            <a:ext cx="3017520" cy="310896"/>
          </a:xfrm>
          <a:prstGeom prst="rect">
            <a:avLst/>
          </a:prstGeom>
          <a:noFill/>
        </p:spPr>
        <p:txBody>
          <a:bodyPr wrap="square" lIns="54864" tIns="27432" rIns="45720" bIns="27432">
            <a:spAutoFit/>
          </a:bodyPr>
          <a:lstStyle/>
          <a:p>
            <a:r>
              <a:rPr sz="1500" b="1">
                <a:solidFill>
                  <a:srgbClr val="121F38"/>
                </a:solidFill>
                <a:latin typeface="Aptos"/>
              </a:rPr>
              <a:t>Find important pages</a:t>
            </a:r>
          </a:p>
        </p:txBody>
      </p:sp>
      <p:sp>
        <p:nvSpPr>
          <p:cNvPr id="17" name="TextBox 16"/>
          <p:cNvSpPr txBox="1"/>
          <p:nvPr/>
        </p:nvSpPr>
        <p:spPr>
          <a:xfrm>
            <a:off x="8476488" y="1911095"/>
            <a:ext cx="3017520" cy="758952"/>
          </a:xfrm>
          <a:prstGeom prst="rect">
            <a:avLst/>
          </a:prstGeom>
          <a:noFill/>
        </p:spPr>
        <p:txBody>
          <a:bodyPr wrap="square" lIns="54864" tIns="27432" rIns="45720" bIns="27432">
            <a:spAutoFit/>
          </a:bodyPr>
          <a:lstStyle/>
          <a:p>
            <a:r>
              <a:rPr sz="1200" b="0">
                <a:solidFill>
                  <a:srgbClr val="283446"/>
                </a:solidFill>
                <a:latin typeface="Aptos"/>
              </a:rPr>
              <a:t>Use centrality measures and PageRank to analyze webpage importance.</a:t>
            </a:r>
          </a:p>
        </p:txBody>
      </p:sp>
      <p:sp>
        <p:nvSpPr>
          <p:cNvPr id="18" name="Rounded Rectangle 17"/>
          <p:cNvSpPr/>
          <p:nvPr/>
        </p:nvSpPr>
        <p:spPr>
          <a:xfrm>
            <a:off x="777240" y="3063240"/>
            <a:ext cx="338328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77240" y="3108960"/>
            <a:ext cx="64008" cy="1234439"/>
          </a:xfrm>
          <a:prstGeom prst="rect">
            <a:avLst/>
          </a:prstGeom>
          <a:solidFill>
            <a:srgbClr val="E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8408" y="3191256"/>
            <a:ext cx="3017520" cy="310896"/>
          </a:xfrm>
          <a:prstGeom prst="rect">
            <a:avLst/>
          </a:prstGeom>
          <a:noFill/>
        </p:spPr>
        <p:txBody>
          <a:bodyPr wrap="square" lIns="54864" tIns="27432" rIns="45720" bIns="27432">
            <a:spAutoFit/>
          </a:bodyPr>
          <a:lstStyle/>
          <a:p>
            <a:r>
              <a:rPr sz="1500" b="1">
                <a:solidFill>
                  <a:srgbClr val="121F38"/>
                </a:solidFill>
                <a:latin typeface="Aptos"/>
              </a:rPr>
              <a:t>Explore navigation paths</a:t>
            </a:r>
          </a:p>
        </p:txBody>
      </p:sp>
      <p:sp>
        <p:nvSpPr>
          <p:cNvPr id="21" name="TextBox 20"/>
          <p:cNvSpPr txBox="1"/>
          <p:nvPr/>
        </p:nvSpPr>
        <p:spPr>
          <a:xfrm>
            <a:off x="978408" y="3557016"/>
            <a:ext cx="3017520" cy="758952"/>
          </a:xfrm>
          <a:prstGeom prst="rect">
            <a:avLst/>
          </a:prstGeom>
          <a:noFill/>
        </p:spPr>
        <p:txBody>
          <a:bodyPr wrap="square" lIns="54864" tIns="27432" rIns="45720" bIns="27432">
            <a:spAutoFit/>
          </a:bodyPr>
          <a:lstStyle/>
          <a:p>
            <a:r>
              <a:rPr sz="1200" b="0">
                <a:solidFill>
                  <a:srgbClr val="283446"/>
                </a:solidFill>
                <a:latin typeface="Aptos"/>
              </a:rPr>
              <a:t>Apply shortest-path analysis between selected pages.</a:t>
            </a:r>
          </a:p>
        </p:txBody>
      </p:sp>
      <p:sp>
        <p:nvSpPr>
          <p:cNvPr id="22" name="Rounded Rectangle 21"/>
          <p:cNvSpPr/>
          <p:nvPr/>
        </p:nvSpPr>
        <p:spPr>
          <a:xfrm>
            <a:off x="4526279" y="3063240"/>
            <a:ext cx="338328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26279" y="3108960"/>
            <a:ext cx="64008" cy="1234439"/>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27447" y="3191256"/>
            <a:ext cx="3017520" cy="310896"/>
          </a:xfrm>
          <a:prstGeom prst="rect">
            <a:avLst/>
          </a:prstGeom>
          <a:noFill/>
        </p:spPr>
        <p:txBody>
          <a:bodyPr wrap="square" lIns="54864" tIns="27432" rIns="45720" bIns="27432">
            <a:spAutoFit/>
          </a:bodyPr>
          <a:lstStyle/>
          <a:p>
            <a:r>
              <a:rPr sz="1500" b="1">
                <a:solidFill>
                  <a:srgbClr val="121F38"/>
                </a:solidFill>
                <a:latin typeface="Aptos"/>
              </a:rPr>
              <a:t>Identify communities</a:t>
            </a:r>
          </a:p>
        </p:txBody>
      </p:sp>
      <p:sp>
        <p:nvSpPr>
          <p:cNvPr id="25" name="TextBox 24"/>
          <p:cNvSpPr txBox="1"/>
          <p:nvPr/>
        </p:nvSpPr>
        <p:spPr>
          <a:xfrm>
            <a:off x="4727447" y="3557016"/>
            <a:ext cx="3017520" cy="758952"/>
          </a:xfrm>
          <a:prstGeom prst="rect">
            <a:avLst/>
          </a:prstGeom>
          <a:noFill/>
        </p:spPr>
        <p:txBody>
          <a:bodyPr wrap="square" lIns="54864" tIns="27432" rIns="45720" bIns="27432">
            <a:spAutoFit/>
          </a:bodyPr>
          <a:lstStyle/>
          <a:p>
            <a:r>
              <a:rPr sz="1200" b="0">
                <a:solidFill>
                  <a:srgbClr val="283446"/>
                </a:solidFill>
                <a:latin typeface="Aptos"/>
              </a:rPr>
              <a:t>Find groups of closely connected webpages.</a:t>
            </a:r>
          </a:p>
        </p:txBody>
      </p:sp>
      <p:sp>
        <p:nvSpPr>
          <p:cNvPr id="26" name="Rounded Rectangle 25"/>
          <p:cNvSpPr/>
          <p:nvPr/>
        </p:nvSpPr>
        <p:spPr>
          <a:xfrm>
            <a:off x="8275319" y="3063240"/>
            <a:ext cx="338328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75319" y="3108960"/>
            <a:ext cx="64008" cy="1234439"/>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76488" y="3191256"/>
            <a:ext cx="3017520" cy="310896"/>
          </a:xfrm>
          <a:prstGeom prst="rect">
            <a:avLst/>
          </a:prstGeom>
          <a:noFill/>
        </p:spPr>
        <p:txBody>
          <a:bodyPr wrap="square" lIns="54864" tIns="27432" rIns="45720" bIns="27432">
            <a:spAutoFit/>
          </a:bodyPr>
          <a:lstStyle/>
          <a:p>
            <a:r>
              <a:rPr sz="1500" b="1">
                <a:solidFill>
                  <a:srgbClr val="121F38"/>
                </a:solidFill>
                <a:latin typeface="Aptos"/>
              </a:rPr>
              <a:t>Present insights</a:t>
            </a:r>
          </a:p>
        </p:txBody>
      </p:sp>
      <p:sp>
        <p:nvSpPr>
          <p:cNvPr id="29" name="TextBox 28"/>
          <p:cNvSpPr txBox="1"/>
          <p:nvPr/>
        </p:nvSpPr>
        <p:spPr>
          <a:xfrm>
            <a:off x="8476488" y="3557016"/>
            <a:ext cx="3017520" cy="758952"/>
          </a:xfrm>
          <a:prstGeom prst="rect">
            <a:avLst/>
          </a:prstGeom>
          <a:noFill/>
        </p:spPr>
        <p:txBody>
          <a:bodyPr wrap="square" lIns="54864" tIns="27432" rIns="45720" bIns="27432">
            <a:spAutoFit/>
          </a:bodyPr>
          <a:lstStyle/>
          <a:p>
            <a:r>
              <a:rPr sz="1200" b="0">
                <a:solidFill>
                  <a:srgbClr val="283446"/>
                </a:solidFill>
                <a:latin typeface="Aptos"/>
              </a:rPr>
              <a:t>Show graph and web analytics in an interactive dashboard.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789920" cy="502920"/>
          </a:xfrm>
          <a:prstGeom prst="rect">
            <a:avLst/>
          </a:prstGeom>
          <a:noFill/>
        </p:spPr>
        <p:txBody>
          <a:bodyPr wrap="square" lIns="54864" tIns="27432" rIns="45720" bIns="27432">
            <a:spAutoFit/>
          </a:bodyPr>
          <a:lstStyle/>
          <a:p>
            <a:r>
              <a:rPr sz="2700" b="1">
                <a:solidFill>
                  <a:srgbClr val="121F38"/>
                </a:solidFill>
                <a:latin typeface="Aptos"/>
              </a:rPr>
              <a:t>Existing Solutions and Their Drawbacks</a:t>
            </a:r>
          </a:p>
        </p:txBody>
      </p:sp>
      <p:sp>
        <p:nvSpPr>
          <p:cNvPr id="3" name="Rectangle 2"/>
          <p:cNvSpPr/>
          <p:nvPr/>
        </p:nvSpPr>
        <p:spPr>
          <a:xfrm>
            <a:off x="640080" y="932688"/>
            <a:ext cx="749808" cy="54864"/>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473952"/>
            <a:ext cx="2743200" cy="182880"/>
          </a:xfrm>
          <a:prstGeom prst="rect">
            <a:avLst/>
          </a:prstGeom>
          <a:noFill/>
        </p:spPr>
        <p:txBody>
          <a:bodyPr wrap="square" lIns="54864" tIns="27432" rIns="45720" bIns="27432">
            <a:spAutoFit/>
          </a:bodyPr>
          <a:lstStyle/>
          <a:p>
            <a:r>
              <a:rPr sz="900" b="1">
                <a:solidFill>
                  <a:srgbClr val="647387"/>
                </a:solidFill>
                <a:latin typeface="Aptos"/>
              </a:rPr>
              <a:t>WEBGRAPH ANALYTICS</a:t>
            </a:r>
          </a:p>
        </p:txBody>
      </p:sp>
      <p:sp>
        <p:nvSpPr>
          <p:cNvPr id="5" name="TextBox 4"/>
          <p:cNvSpPr txBox="1"/>
          <p:nvPr/>
        </p:nvSpPr>
        <p:spPr>
          <a:xfrm>
            <a:off x="11155680" y="6473952"/>
            <a:ext cx="411480" cy="182880"/>
          </a:xfrm>
          <a:prstGeom prst="rect">
            <a:avLst/>
          </a:prstGeom>
          <a:noFill/>
        </p:spPr>
        <p:txBody>
          <a:bodyPr wrap="square" lIns="54864" tIns="27432" rIns="45720" bIns="27432">
            <a:spAutoFit/>
          </a:bodyPr>
          <a:lstStyle/>
          <a:p>
            <a:pPr algn="r"/>
            <a:r>
              <a:rPr sz="1000" b="1">
                <a:solidFill>
                  <a:srgbClr val="647387"/>
                </a:solidFill>
                <a:latin typeface="Aptos"/>
              </a:rPr>
              <a:t>05</a:t>
            </a:r>
          </a:p>
        </p:txBody>
      </p:sp>
      <p:sp>
        <p:nvSpPr>
          <p:cNvPr id="6" name="Rounded Rectangle 5"/>
          <p:cNvSpPr/>
          <p:nvPr/>
        </p:nvSpPr>
        <p:spPr>
          <a:xfrm>
            <a:off x="777240" y="1371600"/>
            <a:ext cx="5166360" cy="141732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417320"/>
            <a:ext cx="64008" cy="1325880"/>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499616"/>
            <a:ext cx="4800600" cy="310896"/>
          </a:xfrm>
          <a:prstGeom prst="rect">
            <a:avLst/>
          </a:prstGeom>
          <a:noFill/>
        </p:spPr>
        <p:txBody>
          <a:bodyPr wrap="square" lIns="54864" tIns="27432" rIns="45720" bIns="27432">
            <a:spAutoFit/>
          </a:bodyPr>
          <a:lstStyle/>
          <a:p>
            <a:r>
              <a:rPr sz="1600" b="1">
                <a:solidFill>
                  <a:srgbClr val="121F38"/>
                </a:solidFill>
                <a:latin typeface="Aptos"/>
              </a:rPr>
              <a:t>Traditional web analytics</a:t>
            </a:r>
          </a:p>
        </p:txBody>
      </p:sp>
      <p:sp>
        <p:nvSpPr>
          <p:cNvPr id="9" name="TextBox 8"/>
          <p:cNvSpPr txBox="1"/>
          <p:nvPr/>
        </p:nvSpPr>
        <p:spPr>
          <a:xfrm>
            <a:off x="978408" y="1865376"/>
            <a:ext cx="4800600" cy="850392"/>
          </a:xfrm>
          <a:prstGeom prst="rect">
            <a:avLst/>
          </a:prstGeom>
          <a:noFill/>
        </p:spPr>
        <p:txBody>
          <a:bodyPr wrap="square" lIns="54864" tIns="27432" rIns="45720" bIns="27432">
            <a:spAutoFit/>
          </a:bodyPr>
          <a:lstStyle/>
          <a:p>
            <a:r>
              <a:rPr sz="1300" b="0">
                <a:solidFill>
                  <a:srgbClr val="283446"/>
                </a:solidFill>
                <a:latin typeface="Aptos"/>
              </a:rPr>
              <a:t>Summarizes page views, users, sessions, conversions and traffic sources.</a:t>
            </a:r>
          </a:p>
        </p:txBody>
      </p:sp>
      <p:sp>
        <p:nvSpPr>
          <p:cNvPr id="10" name="Rounded Rectangle 9"/>
          <p:cNvSpPr/>
          <p:nvPr/>
        </p:nvSpPr>
        <p:spPr>
          <a:xfrm>
            <a:off x="6217920" y="1371600"/>
            <a:ext cx="5166360" cy="141732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417320"/>
            <a:ext cx="64008" cy="1325880"/>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1499616"/>
            <a:ext cx="4800600" cy="310896"/>
          </a:xfrm>
          <a:prstGeom prst="rect">
            <a:avLst/>
          </a:prstGeom>
          <a:noFill/>
        </p:spPr>
        <p:txBody>
          <a:bodyPr wrap="square" lIns="54864" tIns="27432" rIns="45720" bIns="27432">
            <a:spAutoFit/>
          </a:bodyPr>
          <a:lstStyle/>
          <a:p>
            <a:r>
              <a:rPr sz="1600" b="1">
                <a:solidFill>
                  <a:srgbClr val="121F38"/>
                </a:solidFill>
                <a:latin typeface="Aptos"/>
              </a:rPr>
              <a:t>Tabular clickstream analysis</a:t>
            </a:r>
          </a:p>
        </p:txBody>
      </p:sp>
      <p:sp>
        <p:nvSpPr>
          <p:cNvPr id="13" name="TextBox 12"/>
          <p:cNvSpPr txBox="1"/>
          <p:nvPr/>
        </p:nvSpPr>
        <p:spPr>
          <a:xfrm>
            <a:off x="6419088" y="1865376"/>
            <a:ext cx="4800600" cy="850392"/>
          </a:xfrm>
          <a:prstGeom prst="rect">
            <a:avLst/>
          </a:prstGeom>
          <a:noFill/>
        </p:spPr>
        <p:txBody>
          <a:bodyPr wrap="square" lIns="54864" tIns="27432" rIns="45720" bIns="27432">
            <a:spAutoFit/>
          </a:bodyPr>
          <a:lstStyle/>
          <a:p>
            <a:r>
              <a:rPr sz="1300" b="0">
                <a:solidFill>
                  <a:srgbClr val="283446"/>
                </a:solidFill>
                <a:latin typeface="Aptos"/>
              </a:rPr>
              <a:t>Stores events as rows and often requires additional grouping or manual exploration.</a:t>
            </a:r>
          </a:p>
        </p:txBody>
      </p:sp>
      <p:sp>
        <p:nvSpPr>
          <p:cNvPr id="14" name="TextBox 13"/>
          <p:cNvSpPr txBox="1"/>
          <p:nvPr/>
        </p:nvSpPr>
        <p:spPr>
          <a:xfrm>
            <a:off x="822960" y="3246120"/>
            <a:ext cx="3657600" cy="365760"/>
          </a:xfrm>
          <a:prstGeom prst="rect">
            <a:avLst/>
          </a:prstGeom>
          <a:noFill/>
        </p:spPr>
        <p:txBody>
          <a:bodyPr wrap="square" lIns="54864" tIns="27432" rIns="45720" bIns="27432">
            <a:spAutoFit/>
          </a:bodyPr>
          <a:lstStyle/>
          <a:p>
            <a:r>
              <a:rPr sz="2100" b="1">
                <a:solidFill>
                  <a:srgbClr val="121F38"/>
                </a:solidFill>
                <a:latin typeface="Aptos"/>
              </a:rPr>
              <a:t>Common drawbacks</a:t>
            </a:r>
          </a:p>
        </p:txBody>
      </p:sp>
      <p:sp>
        <p:nvSpPr>
          <p:cNvPr id="15" name="TextBox 14"/>
          <p:cNvSpPr txBox="1"/>
          <p:nvPr/>
        </p:nvSpPr>
        <p:spPr>
          <a:xfrm>
            <a:off x="868680" y="3703320"/>
            <a:ext cx="10332720" cy="2011680"/>
          </a:xfrm>
          <a:prstGeom prst="rect">
            <a:avLst/>
          </a:prstGeom>
          <a:noFill/>
        </p:spPr>
        <p:txBody>
          <a:bodyPr wrap="square" lIns="73152" tIns="18288" rIns="45720">
            <a:spAutoFit/>
          </a:bodyPr>
          <a:lstStyle/>
          <a:p>
            <a:pPr>
              <a:spcAft>
                <a:spcPts val="1000"/>
              </a:spcAft>
              <a:defRPr sz="1600">
                <a:solidFill>
                  <a:srgbClr val="283446"/>
                </a:solidFill>
                <a:latin typeface="Aptos"/>
              </a:defRPr>
            </a:pPr>
            <a:r>
              <a:t>Page-to-page relationships may not be represented explicitly.</a:t>
            </a:r>
          </a:p>
          <a:p>
            <a:pPr>
              <a:spcAft>
                <a:spcPts val="1000"/>
              </a:spcAft>
              <a:defRPr sz="1600">
                <a:solidFill>
                  <a:srgbClr val="283446"/>
                </a:solidFill>
                <a:latin typeface="Aptos"/>
              </a:defRPr>
            </a:pPr>
            <a:r>
              <a:t>Finding paths between pages may require extra analysis.</a:t>
            </a:r>
          </a:p>
          <a:p>
            <a:pPr>
              <a:spcAft>
                <a:spcPts val="1000"/>
              </a:spcAft>
              <a:defRPr sz="1600">
                <a:solidFill>
                  <a:srgbClr val="283446"/>
                </a:solidFill>
                <a:latin typeface="Aptos"/>
              </a:defRPr>
            </a:pPr>
            <a:r>
              <a:t>Central or bridging pages can be difficult to spot in tables.</a:t>
            </a:r>
          </a:p>
          <a:p>
            <a:pPr>
              <a:spcAft>
                <a:spcPts val="1000"/>
              </a:spcAft>
              <a:defRPr sz="1600">
                <a:solidFill>
                  <a:srgbClr val="283446"/>
                </a:solidFill>
                <a:latin typeface="Aptos"/>
              </a:defRPr>
            </a:pPr>
            <a:r>
              <a:t>Groups of related webpages may not be clear from summary charts alone.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789920" cy="502920"/>
          </a:xfrm>
          <a:prstGeom prst="rect">
            <a:avLst/>
          </a:prstGeom>
          <a:noFill/>
        </p:spPr>
        <p:txBody>
          <a:bodyPr wrap="square" lIns="54864" tIns="27432" rIns="45720" bIns="27432">
            <a:spAutoFit/>
          </a:bodyPr>
          <a:lstStyle/>
          <a:p>
            <a:r>
              <a:rPr sz="2700" b="1">
                <a:solidFill>
                  <a:srgbClr val="121F38"/>
                </a:solidFill>
                <a:latin typeface="Aptos"/>
              </a:rPr>
              <a:t>Our Project Innovation</a:t>
            </a:r>
          </a:p>
        </p:txBody>
      </p:sp>
      <p:sp>
        <p:nvSpPr>
          <p:cNvPr id="3" name="Rectangle 2"/>
          <p:cNvSpPr/>
          <p:nvPr/>
        </p:nvSpPr>
        <p:spPr>
          <a:xfrm>
            <a:off x="640080" y="932688"/>
            <a:ext cx="749808" cy="54864"/>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473952"/>
            <a:ext cx="2743200" cy="182880"/>
          </a:xfrm>
          <a:prstGeom prst="rect">
            <a:avLst/>
          </a:prstGeom>
          <a:noFill/>
        </p:spPr>
        <p:txBody>
          <a:bodyPr wrap="square" lIns="54864" tIns="27432" rIns="45720" bIns="27432">
            <a:spAutoFit/>
          </a:bodyPr>
          <a:lstStyle/>
          <a:p>
            <a:r>
              <a:rPr sz="900" b="1">
                <a:solidFill>
                  <a:srgbClr val="647387"/>
                </a:solidFill>
                <a:latin typeface="Aptos"/>
              </a:rPr>
              <a:t>WEBGRAPH ANALYTICS</a:t>
            </a:r>
          </a:p>
        </p:txBody>
      </p:sp>
      <p:sp>
        <p:nvSpPr>
          <p:cNvPr id="5" name="TextBox 4"/>
          <p:cNvSpPr txBox="1"/>
          <p:nvPr/>
        </p:nvSpPr>
        <p:spPr>
          <a:xfrm>
            <a:off x="11155680" y="6473952"/>
            <a:ext cx="411480" cy="182880"/>
          </a:xfrm>
          <a:prstGeom prst="rect">
            <a:avLst/>
          </a:prstGeom>
          <a:noFill/>
        </p:spPr>
        <p:txBody>
          <a:bodyPr wrap="square" lIns="54864" tIns="27432" rIns="45720" bIns="27432">
            <a:spAutoFit/>
          </a:bodyPr>
          <a:lstStyle/>
          <a:p>
            <a:pPr algn="r"/>
            <a:r>
              <a:rPr sz="1000" b="1">
                <a:solidFill>
                  <a:srgbClr val="647387"/>
                </a:solidFill>
                <a:latin typeface="Aptos"/>
              </a:rPr>
              <a:t>06</a:t>
            </a:r>
          </a:p>
        </p:txBody>
      </p:sp>
      <p:sp>
        <p:nvSpPr>
          <p:cNvPr id="6" name="TextBox 5"/>
          <p:cNvSpPr txBox="1"/>
          <p:nvPr/>
        </p:nvSpPr>
        <p:spPr>
          <a:xfrm>
            <a:off x="822960" y="1234440"/>
            <a:ext cx="10424160" cy="548640"/>
          </a:xfrm>
          <a:prstGeom prst="rect">
            <a:avLst/>
          </a:prstGeom>
          <a:noFill/>
        </p:spPr>
        <p:txBody>
          <a:bodyPr wrap="square" lIns="54864" tIns="27432" rIns="45720" bIns="27432">
            <a:spAutoFit/>
          </a:bodyPr>
          <a:lstStyle/>
          <a:p>
            <a:r>
              <a:rPr sz="2100" b="1">
                <a:solidFill>
                  <a:srgbClr val="283446"/>
                </a:solidFill>
                <a:latin typeface="Aptos"/>
              </a:rPr>
              <a:t>WebGraph Analytics combines graph-based navigation analysis with an accessible, interactive dashboard.</a:t>
            </a:r>
          </a:p>
        </p:txBody>
      </p:sp>
      <p:sp>
        <p:nvSpPr>
          <p:cNvPr id="7" name="Rounded Rectangle 6"/>
          <p:cNvSpPr/>
          <p:nvPr/>
        </p:nvSpPr>
        <p:spPr>
          <a:xfrm>
            <a:off x="777240" y="1965960"/>
            <a:ext cx="3383280" cy="128016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2011679"/>
            <a:ext cx="64008" cy="1188719"/>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093976"/>
            <a:ext cx="3017520" cy="310896"/>
          </a:xfrm>
          <a:prstGeom prst="rect">
            <a:avLst/>
          </a:prstGeom>
          <a:noFill/>
        </p:spPr>
        <p:txBody>
          <a:bodyPr wrap="square" lIns="54864" tIns="27432" rIns="45720" bIns="27432">
            <a:spAutoFit/>
          </a:bodyPr>
          <a:lstStyle/>
          <a:p>
            <a:r>
              <a:rPr sz="1500" b="1">
                <a:solidFill>
                  <a:srgbClr val="121F38"/>
                </a:solidFill>
                <a:latin typeface="Aptos"/>
              </a:rPr>
              <a:t>Graph representation</a:t>
            </a:r>
          </a:p>
        </p:txBody>
      </p:sp>
      <p:sp>
        <p:nvSpPr>
          <p:cNvPr id="10" name="TextBox 9"/>
          <p:cNvSpPr txBox="1"/>
          <p:nvPr/>
        </p:nvSpPr>
        <p:spPr>
          <a:xfrm>
            <a:off x="978408" y="2459736"/>
            <a:ext cx="3017520" cy="713231"/>
          </a:xfrm>
          <a:prstGeom prst="rect">
            <a:avLst/>
          </a:prstGeom>
          <a:noFill/>
        </p:spPr>
        <p:txBody>
          <a:bodyPr wrap="square" lIns="54864" tIns="27432" rIns="45720" bIns="27432">
            <a:spAutoFit/>
          </a:bodyPr>
          <a:lstStyle/>
          <a:p>
            <a:r>
              <a:rPr sz="1200" b="0">
                <a:solidFill>
                  <a:srgbClr val="283446"/>
                </a:solidFill>
                <a:latin typeface="Aptos"/>
              </a:rPr>
              <a:t>Webpages become nodes; page transitions become directed, weighted edges.</a:t>
            </a:r>
          </a:p>
        </p:txBody>
      </p:sp>
      <p:sp>
        <p:nvSpPr>
          <p:cNvPr id="11" name="Rounded Rectangle 10"/>
          <p:cNvSpPr/>
          <p:nvPr/>
        </p:nvSpPr>
        <p:spPr>
          <a:xfrm>
            <a:off x="4526279" y="1965960"/>
            <a:ext cx="3383280" cy="128016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26279" y="2011679"/>
            <a:ext cx="64008" cy="1188719"/>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27447" y="2093976"/>
            <a:ext cx="3017520" cy="310896"/>
          </a:xfrm>
          <a:prstGeom prst="rect">
            <a:avLst/>
          </a:prstGeom>
          <a:noFill/>
        </p:spPr>
        <p:txBody>
          <a:bodyPr wrap="square" lIns="54864" tIns="27432" rIns="45720" bIns="27432">
            <a:spAutoFit/>
          </a:bodyPr>
          <a:lstStyle/>
          <a:p>
            <a:r>
              <a:rPr sz="1500" b="1">
                <a:solidFill>
                  <a:srgbClr val="121F38"/>
                </a:solidFill>
                <a:latin typeface="Aptos"/>
              </a:rPr>
              <a:t>Journey-based transitions</a:t>
            </a:r>
          </a:p>
        </p:txBody>
      </p:sp>
      <p:sp>
        <p:nvSpPr>
          <p:cNvPr id="14" name="TextBox 13"/>
          <p:cNvSpPr txBox="1"/>
          <p:nvPr/>
        </p:nvSpPr>
        <p:spPr>
          <a:xfrm>
            <a:off x="4727447" y="2459736"/>
            <a:ext cx="3017520" cy="713231"/>
          </a:xfrm>
          <a:prstGeom prst="rect">
            <a:avLst/>
          </a:prstGeom>
          <a:noFill/>
        </p:spPr>
        <p:txBody>
          <a:bodyPr wrap="square" lIns="54864" tIns="27432" rIns="45720" bIns="27432">
            <a:spAutoFit/>
          </a:bodyPr>
          <a:lstStyle/>
          <a:p>
            <a:r>
              <a:rPr sz="1200" b="0">
                <a:solidFill>
                  <a:srgbClr val="283446"/>
                </a:solidFill>
                <a:latin typeface="Aptos"/>
              </a:rPr>
              <a:t>Uses event order to identify consecutive page movements.</a:t>
            </a:r>
          </a:p>
        </p:txBody>
      </p:sp>
      <p:sp>
        <p:nvSpPr>
          <p:cNvPr id="15" name="Rounded Rectangle 14"/>
          <p:cNvSpPr/>
          <p:nvPr/>
        </p:nvSpPr>
        <p:spPr>
          <a:xfrm>
            <a:off x="8275319" y="1965960"/>
            <a:ext cx="3383280" cy="128016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75319" y="2011679"/>
            <a:ext cx="64008" cy="1188719"/>
          </a:xfrm>
          <a:prstGeom prst="rect">
            <a:avLst/>
          </a:prstGeom>
          <a:solidFill>
            <a:srgbClr val="369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76488" y="2093976"/>
            <a:ext cx="3017520" cy="310896"/>
          </a:xfrm>
          <a:prstGeom prst="rect">
            <a:avLst/>
          </a:prstGeom>
          <a:noFill/>
        </p:spPr>
        <p:txBody>
          <a:bodyPr wrap="square" lIns="54864" tIns="27432" rIns="45720" bIns="27432">
            <a:spAutoFit/>
          </a:bodyPr>
          <a:lstStyle/>
          <a:p>
            <a:r>
              <a:rPr sz="1500" b="1">
                <a:solidFill>
                  <a:srgbClr val="121F38"/>
                </a:solidFill>
                <a:latin typeface="Aptos"/>
              </a:rPr>
              <a:t>Multiple graph measures</a:t>
            </a:r>
          </a:p>
        </p:txBody>
      </p:sp>
      <p:sp>
        <p:nvSpPr>
          <p:cNvPr id="18" name="TextBox 17"/>
          <p:cNvSpPr txBox="1"/>
          <p:nvPr/>
        </p:nvSpPr>
        <p:spPr>
          <a:xfrm>
            <a:off x="8476488" y="2459736"/>
            <a:ext cx="3017520" cy="713231"/>
          </a:xfrm>
          <a:prstGeom prst="rect">
            <a:avLst/>
          </a:prstGeom>
          <a:noFill/>
        </p:spPr>
        <p:txBody>
          <a:bodyPr wrap="square" lIns="54864" tIns="27432" rIns="45720" bIns="27432">
            <a:spAutoFit/>
          </a:bodyPr>
          <a:lstStyle/>
          <a:p>
            <a:r>
              <a:rPr sz="1200" b="0">
                <a:solidFill>
                  <a:srgbClr val="283446"/>
                </a:solidFill>
                <a:latin typeface="Aptos"/>
              </a:rPr>
              <a:t>Combines paths, centrality, PageRank and community detection.</a:t>
            </a:r>
          </a:p>
        </p:txBody>
      </p:sp>
      <p:sp>
        <p:nvSpPr>
          <p:cNvPr id="19" name="Rounded Rectangle 18"/>
          <p:cNvSpPr/>
          <p:nvPr/>
        </p:nvSpPr>
        <p:spPr>
          <a:xfrm>
            <a:off x="777240" y="3566160"/>
            <a:ext cx="3383280" cy="128016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77240" y="3611879"/>
            <a:ext cx="64008" cy="1188719"/>
          </a:xfrm>
          <a:prstGeom prst="rect">
            <a:avLst/>
          </a:prstGeom>
          <a:solidFill>
            <a:srgbClr val="E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8408" y="3694176"/>
            <a:ext cx="3017520" cy="310896"/>
          </a:xfrm>
          <a:prstGeom prst="rect">
            <a:avLst/>
          </a:prstGeom>
          <a:noFill/>
        </p:spPr>
        <p:txBody>
          <a:bodyPr wrap="square" lIns="54864" tIns="27432" rIns="45720" bIns="27432">
            <a:spAutoFit/>
          </a:bodyPr>
          <a:lstStyle/>
          <a:p>
            <a:r>
              <a:rPr sz="1500" b="1">
                <a:solidFill>
                  <a:srgbClr val="121F38"/>
                </a:solidFill>
                <a:latin typeface="Aptos"/>
              </a:rPr>
              <a:t>Interactive exploration</a:t>
            </a:r>
          </a:p>
        </p:txBody>
      </p:sp>
      <p:sp>
        <p:nvSpPr>
          <p:cNvPr id="22" name="TextBox 21"/>
          <p:cNvSpPr txBox="1"/>
          <p:nvPr/>
        </p:nvSpPr>
        <p:spPr>
          <a:xfrm>
            <a:off x="978408" y="4059935"/>
            <a:ext cx="3017520" cy="713231"/>
          </a:xfrm>
          <a:prstGeom prst="rect">
            <a:avLst/>
          </a:prstGeom>
          <a:noFill/>
        </p:spPr>
        <p:txBody>
          <a:bodyPr wrap="square" lIns="54864" tIns="27432" rIns="45720" bIns="27432">
            <a:spAutoFit/>
          </a:bodyPr>
          <a:lstStyle/>
          <a:p>
            <a:r>
              <a:rPr sz="1200" b="0">
                <a:solidFill>
                  <a:srgbClr val="283446"/>
                </a:solidFill>
                <a:latin typeface="Aptos"/>
              </a:rPr>
              <a:t>Displays graph analytics and web analytics through Streamlit.</a:t>
            </a:r>
          </a:p>
        </p:txBody>
      </p:sp>
      <p:sp>
        <p:nvSpPr>
          <p:cNvPr id="23" name="Rounded Rectangle 22"/>
          <p:cNvSpPr/>
          <p:nvPr/>
        </p:nvSpPr>
        <p:spPr>
          <a:xfrm>
            <a:off x="4526279" y="3566160"/>
            <a:ext cx="3383280" cy="128016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26279" y="3611879"/>
            <a:ext cx="64008" cy="1188719"/>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27447" y="3694176"/>
            <a:ext cx="3017520" cy="310896"/>
          </a:xfrm>
          <a:prstGeom prst="rect">
            <a:avLst/>
          </a:prstGeom>
          <a:noFill/>
        </p:spPr>
        <p:txBody>
          <a:bodyPr wrap="square" lIns="54864" tIns="27432" rIns="45720" bIns="27432">
            <a:spAutoFit/>
          </a:bodyPr>
          <a:lstStyle/>
          <a:p>
            <a:r>
              <a:rPr sz="1500" b="1">
                <a:solidFill>
                  <a:srgbClr val="121F38"/>
                </a:solidFill>
                <a:latin typeface="Aptos"/>
              </a:rPr>
              <a:t>Flexible data input</a:t>
            </a:r>
          </a:p>
        </p:txBody>
      </p:sp>
      <p:sp>
        <p:nvSpPr>
          <p:cNvPr id="26" name="TextBox 25"/>
          <p:cNvSpPr txBox="1"/>
          <p:nvPr/>
        </p:nvSpPr>
        <p:spPr>
          <a:xfrm>
            <a:off x="4727447" y="4059935"/>
            <a:ext cx="3017520" cy="713231"/>
          </a:xfrm>
          <a:prstGeom prst="rect">
            <a:avLst/>
          </a:prstGeom>
          <a:noFill/>
        </p:spPr>
        <p:txBody>
          <a:bodyPr wrap="square" lIns="54864" tIns="27432" rIns="45720" bIns="27432">
            <a:spAutoFit/>
          </a:bodyPr>
          <a:lstStyle/>
          <a:p>
            <a:r>
              <a:rPr sz="1200" b="0">
                <a:solidFill>
                  <a:srgbClr val="283446"/>
                </a:solidFill>
                <a:latin typeface="Aptos"/>
              </a:rPr>
              <a:t>Supports a bundled dataset and user-uploaded CSV or Excel files.</a:t>
            </a:r>
          </a:p>
        </p:txBody>
      </p:sp>
      <p:sp>
        <p:nvSpPr>
          <p:cNvPr id="27" name="Rounded Rectangle 26"/>
          <p:cNvSpPr/>
          <p:nvPr/>
        </p:nvSpPr>
        <p:spPr>
          <a:xfrm>
            <a:off x="8275319" y="3566160"/>
            <a:ext cx="3383280" cy="128016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275319" y="3611879"/>
            <a:ext cx="64008" cy="1188719"/>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76488" y="3694176"/>
            <a:ext cx="3017520" cy="310896"/>
          </a:xfrm>
          <a:prstGeom prst="rect">
            <a:avLst/>
          </a:prstGeom>
          <a:noFill/>
        </p:spPr>
        <p:txBody>
          <a:bodyPr wrap="square" lIns="54864" tIns="27432" rIns="45720" bIns="27432">
            <a:spAutoFit/>
          </a:bodyPr>
          <a:lstStyle/>
          <a:p>
            <a:r>
              <a:rPr sz="1500" b="1">
                <a:solidFill>
                  <a:srgbClr val="121F38"/>
                </a:solidFill>
                <a:latin typeface="Aptos"/>
              </a:rPr>
              <a:t>Exportable outputs</a:t>
            </a:r>
          </a:p>
        </p:txBody>
      </p:sp>
      <p:sp>
        <p:nvSpPr>
          <p:cNvPr id="30" name="TextBox 29"/>
          <p:cNvSpPr txBox="1"/>
          <p:nvPr/>
        </p:nvSpPr>
        <p:spPr>
          <a:xfrm>
            <a:off x="8476488" y="4059935"/>
            <a:ext cx="3017520" cy="713231"/>
          </a:xfrm>
          <a:prstGeom prst="rect">
            <a:avLst/>
          </a:prstGeom>
          <a:noFill/>
        </p:spPr>
        <p:txBody>
          <a:bodyPr wrap="square" lIns="54864" tIns="27432" rIns="45720" bIns="27432">
            <a:spAutoFit/>
          </a:bodyPr>
          <a:lstStyle/>
          <a:p>
            <a:r>
              <a:rPr sz="1200" b="0">
                <a:solidFill>
                  <a:srgbClr val="283446"/>
                </a:solidFill>
                <a:latin typeface="Aptos"/>
              </a:rPr>
              <a:t>Allows supported analysis results to be downloaded as CSV.</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789920" cy="502920"/>
          </a:xfrm>
          <a:prstGeom prst="rect">
            <a:avLst/>
          </a:prstGeom>
          <a:noFill/>
        </p:spPr>
        <p:txBody>
          <a:bodyPr wrap="square" lIns="54864" tIns="27432" rIns="45720" bIns="27432">
            <a:spAutoFit/>
          </a:bodyPr>
          <a:lstStyle/>
          <a:p>
            <a:r>
              <a:rPr sz="2700" b="1">
                <a:solidFill>
                  <a:srgbClr val="121F38"/>
                </a:solidFill>
                <a:latin typeface="Aptos"/>
              </a:rPr>
              <a:t>Advantages</a:t>
            </a:r>
          </a:p>
        </p:txBody>
      </p:sp>
      <p:sp>
        <p:nvSpPr>
          <p:cNvPr id="3" name="Rectangle 2"/>
          <p:cNvSpPr/>
          <p:nvPr/>
        </p:nvSpPr>
        <p:spPr>
          <a:xfrm>
            <a:off x="640080" y="932688"/>
            <a:ext cx="749808" cy="54864"/>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473952"/>
            <a:ext cx="2743200" cy="182880"/>
          </a:xfrm>
          <a:prstGeom prst="rect">
            <a:avLst/>
          </a:prstGeom>
          <a:noFill/>
        </p:spPr>
        <p:txBody>
          <a:bodyPr wrap="square" lIns="54864" tIns="27432" rIns="45720" bIns="27432">
            <a:spAutoFit/>
          </a:bodyPr>
          <a:lstStyle/>
          <a:p>
            <a:r>
              <a:rPr sz="900" b="1">
                <a:solidFill>
                  <a:srgbClr val="647387"/>
                </a:solidFill>
                <a:latin typeface="Aptos"/>
              </a:rPr>
              <a:t>WEBGRAPH ANALYTICS</a:t>
            </a:r>
          </a:p>
        </p:txBody>
      </p:sp>
      <p:sp>
        <p:nvSpPr>
          <p:cNvPr id="5" name="TextBox 4"/>
          <p:cNvSpPr txBox="1"/>
          <p:nvPr/>
        </p:nvSpPr>
        <p:spPr>
          <a:xfrm>
            <a:off x="11155680" y="6473952"/>
            <a:ext cx="411480" cy="182880"/>
          </a:xfrm>
          <a:prstGeom prst="rect">
            <a:avLst/>
          </a:prstGeom>
          <a:noFill/>
        </p:spPr>
        <p:txBody>
          <a:bodyPr wrap="square" lIns="54864" tIns="27432" rIns="45720" bIns="27432">
            <a:spAutoFit/>
          </a:bodyPr>
          <a:lstStyle/>
          <a:p>
            <a:pPr algn="r"/>
            <a:r>
              <a:rPr sz="1000" b="1">
                <a:solidFill>
                  <a:srgbClr val="647387"/>
                </a:solidFill>
                <a:latin typeface="Aptos"/>
              </a:rPr>
              <a:t>07</a:t>
            </a:r>
          </a:p>
        </p:txBody>
      </p:sp>
      <p:sp>
        <p:nvSpPr>
          <p:cNvPr id="6" name="Rounded Rectangle 5"/>
          <p:cNvSpPr/>
          <p:nvPr/>
        </p:nvSpPr>
        <p:spPr>
          <a:xfrm>
            <a:off x="777240" y="137160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417320"/>
            <a:ext cx="64008" cy="1005839"/>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499616"/>
            <a:ext cx="4800600" cy="310896"/>
          </a:xfrm>
          <a:prstGeom prst="rect">
            <a:avLst/>
          </a:prstGeom>
          <a:noFill/>
        </p:spPr>
        <p:txBody>
          <a:bodyPr wrap="square" lIns="54864" tIns="27432" rIns="45720" bIns="27432">
            <a:spAutoFit/>
          </a:bodyPr>
          <a:lstStyle/>
          <a:p>
            <a:r>
              <a:rPr sz="1600" b="1">
                <a:solidFill>
                  <a:srgbClr val="121F38"/>
                </a:solidFill>
                <a:latin typeface="Aptos"/>
              </a:rPr>
              <a:t>Visual navigation</a:t>
            </a:r>
          </a:p>
        </p:txBody>
      </p:sp>
      <p:sp>
        <p:nvSpPr>
          <p:cNvPr id="9" name="TextBox 8"/>
          <p:cNvSpPr txBox="1"/>
          <p:nvPr/>
        </p:nvSpPr>
        <p:spPr>
          <a:xfrm>
            <a:off x="978408" y="1865376"/>
            <a:ext cx="4800600" cy="530352"/>
          </a:xfrm>
          <a:prstGeom prst="rect">
            <a:avLst/>
          </a:prstGeom>
          <a:noFill/>
        </p:spPr>
        <p:txBody>
          <a:bodyPr wrap="square" lIns="54864" tIns="27432" rIns="45720" bIns="27432">
            <a:spAutoFit/>
          </a:bodyPr>
          <a:lstStyle/>
          <a:p>
            <a:r>
              <a:rPr sz="1300" b="0">
                <a:solidFill>
                  <a:srgbClr val="283446"/>
                </a:solidFill>
                <a:latin typeface="Aptos"/>
              </a:rPr>
              <a:t>Makes page-to-page relationships easier to inspect.</a:t>
            </a:r>
          </a:p>
        </p:txBody>
      </p:sp>
      <p:sp>
        <p:nvSpPr>
          <p:cNvPr id="10" name="Rounded Rectangle 9"/>
          <p:cNvSpPr/>
          <p:nvPr/>
        </p:nvSpPr>
        <p:spPr>
          <a:xfrm>
            <a:off x="6355079" y="137160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55079" y="1417320"/>
            <a:ext cx="64008" cy="1005839"/>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56247" y="1499616"/>
            <a:ext cx="4800600" cy="310896"/>
          </a:xfrm>
          <a:prstGeom prst="rect">
            <a:avLst/>
          </a:prstGeom>
          <a:noFill/>
        </p:spPr>
        <p:txBody>
          <a:bodyPr wrap="square" lIns="54864" tIns="27432" rIns="45720" bIns="27432">
            <a:spAutoFit/>
          </a:bodyPr>
          <a:lstStyle/>
          <a:p>
            <a:r>
              <a:rPr sz="1600" b="1">
                <a:solidFill>
                  <a:srgbClr val="121F38"/>
                </a:solidFill>
                <a:latin typeface="Aptos"/>
              </a:rPr>
              <a:t>Path analysis</a:t>
            </a:r>
          </a:p>
        </p:txBody>
      </p:sp>
      <p:sp>
        <p:nvSpPr>
          <p:cNvPr id="13" name="TextBox 12"/>
          <p:cNvSpPr txBox="1"/>
          <p:nvPr/>
        </p:nvSpPr>
        <p:spPr>
          <a:xfrm>
            <a:off x="6556247" y="1865376"/>
            <a:ext cx="4800600" cy="530352"/>
          </a:xfrm>
          <a:prstGeom prst="rect">
            <a:avLst/>
          </a:prstGeom>
          <a:noFill/>
        </p:spPr>
        <p:txBody>
          <a:bodyPr wrap="square" lIns="54864" tIns="27432" rIns="45720" bIns="27432">
            <a:spAutoFit/>
          </a:bodyPr>
          <a:lstStyle/>
          <a:p>
            <a:r>
              <a:rPr sz="1300" b="0">
                <a:solidFill>
                  <a:srgbClr val="283446"/>
                </a:solidFill>
                <a:latin typeface="Aptos"/>
              </a:rPr>
              <a:t>Supports minimum-cost route exploration between webpages.</a:t>
            </a:r>
          </a:p>
        </p:txBody>
      </p:sp>
      <p:sp>
        <p:nvSpPr>
          <p:cNvPr id="14" name="Rounded Rectangle 13"/>
          <p:cNvSpPr/>
          <p:nvPr/>
        </p:nvSpPr>
        <p:spPr>
          <a:xfrm>
            <a:off x="777240" y="278892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7240" y="2834639"/>
            <a:ext cx="64008" cy="1005839"/>
          </a:xfrm>
          <a:prstGeom prst="rect">
            <a:avLst/>
          </a:prstGeom>
          <a:solidFill>
            <a:srgbClr val="369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8408" y="2916936"/>
            <a:ext cx="4800600" cy="310896"/>
          </a:xfrm>
          <a:prstGeom prst="rect">
            <a:avLst/>
          </a:prstGeom>
          <a:noFill/>
        </p:spPr>
        <p:txBody>
          <a:bodyPr wrap="square" lIns="54864" tIns="27432" rIns="45720" bIns="27432">
            <a:spAutoFit/>
          </a:bodyPr>
          <a:lstStyle/>
          <a:p>
            <a:r>
              <a:rPr sz="1600" b="1">
                <a:solidFill>
                  <a:srgbClr val="121F38"/>
                </a:solidFill>
                <a:latin typeface="Aptos"/>
              </a:rPr>
              <a:t>Page importance</a:t>
            </a:r>
          </a:p>
        </p:txBody>
      </p:sp>
      <p:sp>
        <p:nvSpPr>
          <p:cNvPr id="17" name="TextBox 16"/>
          <p:cNvSpPr txBox="1"/>
          <p:nvPr/>
        </p:nvSpPr>
        <p:spPr>
          <a:xfrm>
            <a:off x="978408" y="3282696"/>
            <a:ext cx="4800600" cy="530352"/>
          </a:xfrm>
          <a:prstGeom prst="rect">
            <a:avLst/>
          </a:prstGeom>
          <a:noFill/>
        </p:spPr>
        <p:txBody>
          <a:bodyPr wrap="square" lIns="54864" tIns="27432" rIns="45720" bIns="27432">
            <a:spAutoFit/>
          </a:bodyPr>
          <a:lstStyle/>
          <a:p>
            <a:r>
              <a:rPr sz="1300" b="0">
                <a:solidFill>
                  <a:srgbClr val="283446"/>
                </a:solidFill>
                <a:latin typeface="Aptos"/>
              </a:rPr>
              <a:t>Provides several complementary graph measures.</a:t>
            </a:r>
          </a:p>
        </p:txBody>
      </p:sp>
      <p:sp>
        <p:nvSpPr>
          <p:cNvPr id="18" name="Rounded Rectangle 17"/>
          <p:cNvSpPr/>
          <p:nvPr/>
        </p:nvSpPr>
        <p:spPr>
          <a:xfrm>
            <a:off x="6355079" y="278892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55079" y="2834639"/>
            <a:ext cx="64008" cy="1005839"/>
          </a:xfrm>
          <a:prstGeom prst="rect">
            <a:avLst/>
          </a:prstGeom>
          <a:solidFill>
            <a:srgbClr val="E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56247" y="2916936"/>
            <a:ext cx="4800600" cy="310896"/>
          </a:xfrm>
          <a:prstGeom prst="rect">
            <a:avLst/>
          </a:prstGeom>
          <a:noFill/>
        </p:spPr>
        <p:txBody>
          <a:bodyPr wrap="square" lIns="54864" tIns="27432" rIns="45720" bIns="27432">
            <a:spAutoFit/>
          </a:bodyPr>
          <a:lstStyle/>
          <a:p>
            <a:r>
              <a:rPr sz="1600" b="1">
                <a:solidFill>
                  <a:srgbClr val="121F38"/>
                </a:solidFill>
                <a:latin typeface="Aptos"/>
              </a:rPr>
              <a:t>Community insights</a:t>
            </a:r>
          </a:p>
        </p:txBody>
      </p:sp>
      <p:sp>
        <p:nvSpPr>
          <p:cNvPr id="21" name="TextBox 20"/>
          <p:cNvSpPr txBox="1"/>
          <p:nvPr/>
        </p:nvSpPr>
        <p:spPr>
          <a:xfrm>
            <a:off x="6556247" y="3282696"/>
            <a:ext cx="4800600" cy="530352"/>
          </a:xfrm>
          <a:prstGeom prst="rect">
            <a:avLst/>
          </a:prstGeom>
          <a:noFill/>
        </p:spPr>
        <p:txBody>
          <a:bodyPr wrap="square" lIns="54864" tIns="27432" rIns="45720" bIns="27432">
            <a:spAutoFit/>
          </a:bodyPr>
          <a:lstStyle/>
          <a:p>
            <a:r>
              <a:rPr sz="1300" b="0">
                <a:solidFill>
                  <a:srgbClr val="283446"/>
                </a:solidFill>
                <a:latin typeface="Aptos"/>
              </a:rPr>
              <a:t>Can reveal groups of strongly connected pages.</a:t>
            </a:r>
          </a:p>
        </p:txBody>
      </p:sp>
      <p:sp>
        <p:nvSpPr>
          <p:cNvPr id="22" name="Rounded Rectangle 21"/>
          <p:cNvSpPr/>
          <p:nvPr/>
        </p:nvSpPr>
        <p:spPr>
          <a:xfrm>
            <a:off x="777240" y="420624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77240" y="4251959"/>
            <a:ext cx="64008" cy="1005839"/>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4334255"/>
            <a:ext cx="4800600" cy="310896"/>
          </a:xfrm>
          <a:prstGeom prst="rect">
            <a:avLst/>
          </a:prstGeom>
          <a:noFill/>
        </p:spPr>
        <p:txBody>
          <a:bodyPr wrap="square" lIns="54864" tIns="27432" rIns="45720" bIns="27432">
            <a:spAutoFit/>
          </a:bodyPr>
          <a:lstStyle/>
          <a:p>
            <a:r>
              <a:rPr sz="1600" b="1">
                <a:solidFill>
                  <a:srgbClr val="121F38"/>
                </a:solidFill>
                <a:latin typeface="Aptos"/>
              </a:rPr>
              <a:t>Flexible datasets</a:t>
            </a:r>
          </a:p>
        </p:txBody>
      </p:sp>
      <p:sp>
        <p:nvSpPr>
          <p:cNvPr id="25" name="TextBox 24"/>
          <p:cNvSpPr txBox="1"/>
          <p:nvPr/>
        </p:nvSpPr>
        <p:spPr>
          <a:xfrm>
            <a:off x="978408" y="4700016"/>
            <a:ext cx="4800600" cy="530352"/>
          </a:xfrm>
          <a:prstGeom prst="rect">
            <a:avLst/>
          </a:prstGeom>
          <a:noFill/>
        </p:spPr>
        <p:txBody>
          <a:bodyPr wrap="square" lIns="54864" tIns="27432" rIns="45720" bIns="27432">
            <a:spAutoFit/>
          </a:bodyPr>
          <a:lstStyle/>
          <a:p>
            <a:r>
              <a:rPr sz="1300" b="0">
                <a:solidFill>
                  <a:srgbClr val="283446"/>
                </a:solidFill>
                <a:latin typeface="Aptos"/>
              </a:rPr>
              <a:t>Allows analysis of bundled and uploaded data.</a:t>
            </a:r>
          </a:p>
        </p:txBody>
      </p:sp>
      <p:sp>
        <p:nvSpPr>
          <p:cNvPr id="26" name="Rounded Rectangle 25"/>
          <p:cNvSpPr/>
          <p:nvPr/>
        </p:nvSpPr>
        <p:spPr>
          <a:xfrm>
            <a:off x="6355079" y="420624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55079" y="4251959"/>
            <a:ext cx="64008" cy="1005839"/>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56247" y="4334255"/>
            <a:ext cx="4800600" cy="310896"/>
          </a:xfrm>
          <a:prstGeom prst="rect">
            <a:avLst/>
          </a:prstGeom>
          <a:noFill/>
        </p:spPr>
        <p:txBody>
          <a:bodyPr wrap="square" lIns="54864" tIns="27432" rIns="45720" bIns="27432">
            <a:spAutoFit/>
          </a:bodyPr>
          <a:lstStyle/>
          <a:p>
            <a:r>
              <a:rPr sz="1600" b="1">
                <a:solidFill>
                  <a:srgbClr val="121F38"/>
                </a:solidFill>
                <a:latin typeface="Aptos"/>
              </a:rPr>
              <a:t>Reusable results</a:t>
            </a:r>
          </a:p>
        </p:txBody>
      </p:sp>
      <p:sp>
        <p:nvSpPr>
          <p:cNvPr id="29" name="TextBox 28"/>
          <p:cNvSpPr txBox="1"/>
          <p:nvPr/>
        </p:nvSpPr>
        <p:spPr>
          <a:xfrm>
            <a:off x="6556247" y="4700016"/>
            <a:ext cx="4800600" cy="530352"/>
          </a:xfrm>
          <a:prstGeom prst="rect">
            <a:avLst/>
          </a:prstGeom>
          <a:noFill/>
        </p:spPr>
        <p:txBody>
          <a:bodyPr wrap="square" lIns="54864" tIns="27432" rIns="45720" bIns="27432">
            <a:spAutoFit/>
          </a:bodyPr>
          <a:lstStyle/>
          <a:p>
            <a:r>
              <a:rPr sz="1300" b="0">
                <a:solidFill>
                  <a:srgbClr val="283446"/>
                </a:solidFill>
                <a:latin typeface="Aptos"/>
              </a:rPr>
              <a:t>CSV exports support further analysis and reporting.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789920" cy="502920"/>
          </a:xfrm>
          <a:prstGeom prst="rect">
            <a:avLst/>
          </a:prstGeom>
          <a:noFill/>
        </p:spPr>
        <p:txBody>
          <a:bodyPr wrap="square" lIns="54864" tIns="27432" rIns="45720" bIns="27432">
            <a:spAutoFit/>
          </a:bodyPr>
          <a:lstStyle/>
          <a:p>
            <a:r>
              <a:rPr sz="2700" b="1">
                <a:solidFill>
                  <a:srgbClr val="121F38"/>
                </a:solidFill>
                <a:latin typeface="Aptos"/>
              </a:rPr>
              <a:t>Modern Tools and Technologies</a:t>
            </a:r>
          </a:p>
        </p:txBody>
      </p:sp>
      <p:sp>
        <p:nvSpPr>
          <p:cNvPr id="3" name="Rectangle 2"/>
          <p:cNvSpPr/>
          <p:nvPr/>
        </p:nvSpPr>
        <p:spPr>
          <a:xfrm>
            <a:off x="640080" y="932688"/>
            <a:ext cx="749808" cy="54864"/>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473952"/>
            <a:ext cx="2743200" cy="182880"/>
          </a:xfrm>
          <a:prstGeom prst="rect">
            <a:avLst/>
          </a:prstGeom>
          <a:noFill/>
        </p:spPr>
        <p:txBody>
          <a:bodyPr wrap="square" lIns="54864" tIns="27432" rIns="45720" bIns="27432">
            <a:spAutoFit/>
          </a:bodyPr>
          <a:lstStyle/>
          <a:p>
            <a:r>
              <a:rPr sz="900" b="1">
                <a:solidFill>
                  <a:srgbClr val="647387"/>
                </a:solidFill>
                <a:latin typeface="Aptos"/>
              </a:rPr>
              <a:t>WEBGRAPH ANALYTICS</a:t>
            </a:r>
          </a:p>
        </p:txBody>
      </p:sp>
      <p:sp>
        <p:nvSpPr>
          <p:cNvPr id="5" name="TextBox 4"/>
          <p:cNvSpPr txBox="1"/>
          <p:nvPr/>
        </p:nvSpPr>
        <p:spPr>
          <a:xfrm>
            <a:off x="11155680" y="6473952"/>
            <a:ext cx="411480" cy="182880"/>
          </a:xfrm>
          <a:prstGeom prst="rect">
            <a:avLst/>
          </a:prstGeom>
          <a:noFill/>
        </p:spPr>
        <p:txBody>
          <a:bodyPr wrap="square" lIns="54864" tIns="27432" rIns="45720" bIns="27432">
            <a:spAutoFit/>
          </a:bodyPr>
          <a:lstStyle/>
          <a:p>
            <a:pPr algn="r"/>
            <a:r>
              <a:rPr sz="1000" b="1">
                <a:solidFill>
                  <a:srgbClr val="647387"/>
                </a:solidFill>
                <a:latin typeface="Aptos"/>
              </a:rPr>
              <a:t>09</a:t>
            </a:r>
          </a:p>
        </p:txBody>
      </p:sp>
      <p:sp>
        <p:nvSpPr>
          <p:cNvPr id="6" name="Rounded Rectangle 5"/>
          <p:cNvSpPr/>
          <p:nvPr/>
        </p:nvSpPr>
        <p:spPr>
          <a:xfrm>
            <a:off x="777240" y="1463040"/>
            <a:ext cx="251460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508760"/>
            <a:ext cx="64008" cy="1234439"/>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591056"/>
            <a:ext cx="2148840" cy="310896"/>
          </a:xfrm>
          <a:prstGeom prst="rect">
            <a:avLst/>
          </a:prstGeom>
          <a:noFill/>
        </p:spPr>
        <p:txBody>
          <a:bodyPr wrap="square" lIns="54864" tIns="27432" rIns="45720" bIns="27432">
            <a:spAutoFit/>
          </a:bodyPr>
          <a:lstStyle/>
          <a:p>
            <a:r>
              <a:rPr sz="1500" b="1">
                <a:solidFill>
                  <a:srgbClr val="121F38"/>
                </a:solidFill>
                <a:latin typeface="Aptos"/>
              </a:rPr>
              <a:t>Python</a:t>
            </a:r>
          </a:p>
        </p:txBody>
      </p:sp>
      <p:sp>
        <p:nvSpPr>
          <p:cNvPr id="9" name="TextBox 8"/>
          <p:cNvSpPr txBox="1"/>
          <p:nvPr/>
        </p:nvSpPr>
        <p:spPr>
          <a:xfrm>
            <a:off x="978408" y="1956816"/>
            <a:ext cx="2148840" cy="758952"/>
          </a:xfrm>
          <a:prstGeom prst="rect">
            <a:avLst/>
          </a:prstGeom>
          <a:noFill/>
        </p:spPr>
        <p:txBody>
          <a:bodyPr wrap="square" lIns="54864" tIns="27432" rIns="45720" bIns="27432">
            <a:spAutoFit/>
          </a:bodyPr>
          <a:lstStyle/>
          <a:p>
            <a:r>
              <a:rPr sz="1200" b="0">
                <a:solidFill>
                  <a:srgbClr val="283446"/>
                </a:solidFill>
                <a:latin typeface="Aptos"/>
              </a:rPr>
              <a:t>Core programming language</a:t>
            </a:r>
          </a:p>
        </p:txBody>
      </p:sp>
      <p:sp>
        <p:nvSpPr>
          <p:cNvPr id="10" name="Rounded Rectangle 9"/>
          <p:cNvSpPr/>
          <p:nvPr/>
        </p:nvSpPr>
        <p:spPr>
          <a:xfrm>
            <a:off x="3611880" y="1463040"/>
            <a:ext cx="251460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11880" y="1508760"/>
            <a:ext cx="64008" cy="1234439"/>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13048" y="1591056"/>
            <a:ext cx="2148840" cy="310896"/>
          </a:xfrm>
          <a:prstGeom prst="rect">
            <a:avLst/>
          </a:prstGeom>
          <a:noFill/>
        </p:spPr>
        <p:txBody>
          <a:bodyPr wrap="square" lIns="54864" tIns="27432" rIns="45720" bIns="27432">
            <a:spAutoFit/>
          </a:bodyPr>
          <a:lstStyle/>
          <a:p>
            <a:r>
              <a:rPr sz="1500" b="1">
                <a:solidFill>
                  <a:srgbClr val="121F38"/>
                </a:solidFill>
                <a:latin typeface="Aptos"/>
              </a:rPr>
              <a:t>Pandas</a:t>
            </a:r>
          </a:p>
        </p:txBody>
      </p:sp>
      <p:sp>
        <p:nvSpPr>
          <p:cNvPr id="13" name="TextBox 12"/>
          <p:cNvSpPr txBox="1"/>
          <p:nvPr/>
        </p:nvSpPr>
        <p:spPr>
          <a:xfrm>
            <a:off x="3813048" y="1956816"/>
            <a:ext cx="2148840" cy="758952"/>
          </a:xfrm>
          <a:prstGeom prst="rect">
            <a:avLst/>
          </a:prstGeom>
          <a:noFill/>
        </p:spPr>
        <p:txBody>
          <a:bodyPr wrap="square" lIns="54864" tIns="27432" rIns="45720" bIns="27432">
            <a:spAutoFit/>
          </a:bodyPr>
          <a:lstStyle/>
          <a:p>
            <a:r>
              <a:rPr sz="1200" b="0">
                <a:solidFill>
                  <a:srgbClr val="283446"/>
                </a:solidFill>
                <a:latin typeface="Aptos"/>
              </a:rPr>
              <a:t>Load, inspect and process tabular data</a:t>
            </a:r>
          </a:p>
        </p:txBody>
      </p:sp>
      <p:sp>
        <p:nvSpPr>
          <p:cNvPr id="14" name="Rounded Rectangle 13"/>
          <p:cNvSpPr/>
          <p:nvPr/>
        </p:nvSpPr>
        <p:spPr>
          <a:xfrm>
            <a:off x="6446520" y="1463040"/>
            <a:ext cx="251460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46520" y="1508760"/>
            <a:ext cx="64008" cy="1234439"/>
          </a:xfrm>
          <a:prstGeom prst="rect">
            <a:avLst/>
          </a:prstGeom>
          <a:solidFill>
            <a:srgbClr val="369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47688" y="1591056"/>
            <a:ext cx="2148840" cy="310896"/>
          </a:xfrm>
          <a:prstGeom prst="rect">
            <a:avLst/>
          </a:prstGeom>
          <a:noFill/>
        </p:spPr>
        <p:txBody>
          <a:bodyPr wrap="square" lIns="54864" tIns="27432" rIns="45720" bIns="27432">
            <a:spAutoFit/>
          </a:bodyPr>
          <a:lstStyle/>
          <a:p>
            <a:r>
              <a:rPr sz="1500" b="1">
                <a:solidFill>
                  <a:srgbClr val="121F38"/>
                </a:solidFill>
                <a:latin typeface="Aptos"/>
              </a:rPr>
              <a:t>NumPy</a:t>
            </a:r>
          </a:p>
        </p:txBody>
      </p:sp>
      <p:sp>
        <p:nvSpPr>
          <p:cNvPr id="17" name="TextBox 16"/>
          <p:cNvSpPr txBox="1"/>
          <p:nvPr/>
        </p:nvSpPr>
        <p:spPr>
          <a:xfrm>
            <a:off x="6647688" y="1956816"/>
            <a:ext cx="2148840" cy="758952"/>
          </a:xfrm>
          <a:prstGeom prst="rect">
            <a:avLst/>
          </a:prstGeom>
          <a:noFill/>
        </p:spPr>
        <p:txBody>
          <a:bodyPr wrap="square" lIns="54864" tIns="27432" rIns="45720" bIns="27432">
            <a:spAutoFit/>
          </a:bodyPr>
          <a:lstStyle/>
          <a:p>
            <a:r>
              <a:rPr sz="1200" b="0">
                <a:solidFill>
                  <a:srgbClr val="283446"/>
                </a:solidFill>
                <a:latin typeface="Aptos"/>
              </a:rPr>
              <a:t>Numerical operations</a:t>
            </a:r>
          </a:p>
        </p:txBody>
      </p:sp>
      <p:sp>
        <p:nvSpPr>
          <p:cNvPr id="18" name="Rounded Rectangle 17"/>
          <p:cNvSpPr/>
          <p:nvPr/>
        </p:nvSpPr>
        <p:spPr>
          <a:xfrm>
            <a:off x="9281160" y="1463040"/>
            <a:ext cx="251460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281160" y="1508760"/>
            <a:ext cx="64008" cy="1234439"/>
          </a:xfrm>
          <a:prstGeom prst="rect">
            <a:avLst/>
          </a:prstGeom>
          <a:solidFill>
            <a:srgbClr val="E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82328" y="1591056"/>
            <a:ext cx="2148840" cy="310896"/>
          </a:xfrm>
          <a:prstGeom prst="rect">
            <a:avLst/>
          </a:prstGeom>
          <a:noFill/>
        </p:spPr>
        <p:txBody>
          <a:bodyPr wrap="square" lIns="54864" tIns="27432" rIns="45720" bIns="27432">
            <a:spAutoFit/>
          </a:bodyPr>
          <a:lstStyle/>
          <a:p>
            <a:r>
              <a:rPr sz="1500" b="1">
                <a:solidFill>
                  <a:srgbClr val="121F38"/>
                </a:solidFill>
                <a:latin typeface="Aptos"/>
              </a:rPr>
              <a:t>NetworkX</a:t>
            </a:r>
          </a:p>
        </p:txBody>
      </p:sp>
      <p:sp>
        <p:nvSpPr>
          <p:cNvPr id="21" name="TextBox 20"/>
          <p:cNvSpPr txBox="1"/>
          <p:nvPr/>
        </p:nvSpPr>
        <p:spPr>
          <a:xfrm>
            <a:off x="9482328" y="1956816"/>
            <a:ext cx="2148840" cy="758952"/>
          </a:xfrm>
          <a:prstGeom prst="rect">
            <a:avLst/>
          </a:prstGeom>
          <a:noFill/>
        </p:spPr>
        <p:txBody>
          <a:bodyPr wrap="square" lIns="54864" tIns="27432" rIns="45720" bIns="27432">
            <a:spAutoFit/>
          </a:bodyPr>
          <a:lstStyle/>
          <a:p>
            <a:r>
              <a:rPr sz="1200" b="0">
                <a:solidFill>
                  <a:srgbClr val="283446"/>
                </a:solidFill>
                <a:latin typeface="Aptos"/>
              </a:rPr>
              <a:t>Graph creation and graph algorithms</a:t>
            </a:r>
          </a:p>
        </p:txBody>
      </p:sp>
      <p:sp>
        <p:nvSpPr>
          <p:cNvPr id="22" name="Rounded Rectangle 21"/>
          <p:cNvSpPr/>
          <p:nvPr/>
        </p:nvSpPr>
        <p:spPr>
          <a:xfrm>
            <a:off x="777240" y="3291840"/>
            <a:ext cx="251460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77240" y="3337560"/>
            <a:ext cx="64008" cy="1234439"/>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3419856"/>
            <a:ext cx="2148840" cy="310896"/>
          </a:xfrm>
          <a:prstGeom prst="rect">
            <a:avLst/>
          </a:prstGeom>
          <a:noFill/>
        </p:spPr>
        <p:txBody>
          <a:bodyPr wrap="square" lIns="54864" tIns="27432" rIns="45720" bIns="27432">
            <a:spAutoFit/>
          </a:bodyPr>
          <a:lstStyle/>
          <a:p>
            <a:r>
              <a:rPr sz="1500" b="1">
                <a:solidFill>
                  <a:srgbClr val="121F38"/>
                </a:solidFill>
                <a:latin typeface="Aptos"/>
              </a:rPr>
              <a:t>Streamlit</a:t>
            </a:r>
          </a:p>
        </p:txBody>
      </p:sp>
      <p:sp>
        <p:nvSpPr>
          <p:cNvPr id="25" name="TextBox 24"/>
          <p:cNvSpPr txBox="1"/>
          <p:nvPr/>
        </p:nvSpPr>
        <p:spPr>
          <a:xfrm>
            <a:off x="978408" y="3785616"/>
            <a:ext cx="2148840" cy="758952"/>
          </a:xfrm>
          <a:prstGeom prst="rect">
            <a:avLst/>
          </a:prstGeom>
          <a:noFill/>
        </p:spPr>
        <p:txBody>
          <a:bodyPr wrap="square" lIns="54864" tIns="27432" rIns="45720" bIns="27432">
            <a:spAutoFit/>
          </a:bodyPr>
          <a:lstStyle/>
          <a:p>
            <a:r>
              <a:rPr sz="1200" b="0">
                <a:solidFill>
                  <a:srgbClr val="283446"/>
                </a:solidFill>
                <a:latin typeface="Aptos"/>
              </a:rPr>
              <a:t>Interactive browser-based dashboard</a:t>
            </a:r>
          </a:p>
        </p:txBody>
      </p:sp>
      <p:sp>
        <p:nvSpPr>
          <p:cNvPr id="26" name="Rounded Rectangle 25"/>
          <p:cNvSpPr/>
          <p:nvPr/>
        </p:nvSpPr>
        <p:spPr>
          <a:xfrm>
            <a:off x="3611880" y="3291840"/>
            <a:ext cx="251460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11880" y="3337560"/>
            <a:ext cx="64008" cy="1234439"/>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13048" y="3419856"/>
            <a:ext cx="2148840" cy="310896"/>
          </a:xfrm>
          <a:prstGeom prst="rect">
            <a:avLst/>
          </a:prstGeom>
          <a:noFill/>
        </p:spPr>
        <p:txBody>
          <a:bodyPr wrap="square" lIns="54864" tIns="27432" rIns="45720" bIns="27432">
            <a:spAutoFit/>
          </a:bodyPr>
          <a:lstStyle/>
          <a:p>
            <a:r>
              <a:rPr sz="1500" b="1">
                <a:solidFill>
                  <a:srgbClr val="121F38"/>
                </a:solidFill>
                <a:latin typeface="Aptos"/>
              </a:rPr>
              <a:t>Plotly</a:t>
            </a:r>
          </a:p>
        </p:txBody>
      </p:sp>
      <p:sp>
        <p:nvSpPr>
          <p:cNvPr id="29" name="TextBox 28"/>
          <p:cNvSpPr txBox="1"/>
          <p:nvPr/>
        </p:nvSpPr>
        <p:spPr>
          <a:xfrm>
            <a:off x="3813048" y="3785616"/>
            <a:ext cx="2148840" cy="758952"/>
          </a:xfrm>
          <a:prstGeom prst="rect">
            <a:avLst/>
          </a:prstGeom>
          <a:noFill/>
        </p:spPr>
        <p:txBody>
          <a:bodyPr wrap="square" lIns="54864" tIns="27432" rIns="45720" bIns="27432">
            <a:spAutoFit/>
          </a:bodyPr>
          <a:lstStyle/>
          <a:p>
            <a:r>
              <a:rPr sz="1200" b="0">
                <a:solidFill>
                  <a:srgbClr val="283446"/>
                </a:solidFill>
                <a:latin typeface="Aptos"/>
              </a:rPr>
              <a:t>Interactive charts</a:t>
            </a:r>
          </a:p>
        </p:txBody>
      </p:sp>
      <p:sp>
        <p:nvSpPr>
          <p:cNvPr id="30" name="Rounded Rectangle 29"/>
          <p:cNvSpPr/>
          <p:nvPr/>
        </p:nvSpPr>
        <p:spPr>
          <a:xfrm>
            <a:off x="6446520" y="3291840"/>
            <a:ext cx="251460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446520" y="3337560"/>
            <a:ext cx="64008" cy="1234439"/>
          </a:xfrm>
          <a:prstGeom prst="rect">
            <a:avLst/>
          </a:prstGeom>
          <a:solidFill>
            <a:srgbClr val="369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47688" y="3419856"/>
            <a:ext cx="2148840" cy="310896"/>
          </a:xfrm>
          <a:prstGeom prst="rect">
            <a:avLst/>
          </a:prstGeom>
          <a:noFill/>
        </p:spPr>
        <p:txBody>
          <a:bodyPr wrap="square" lIns="54864" tIns="27432" rIns="45720" bIns="27432">
            <a:spAutoFit/>
          </a:bodyPr>
          <a:lstStyle/>
          <a:p>
            <a:r>
              <a:rPr sz="1500" b="1">
                <a:solidFill>
                  <a:srgbClr val="121F38"/>
                </a:solidFill>
                <a:latin typeface="Aptos"/>
              </a:rPr>
              <a:t>Matplotlib &amp; Seaborn</a:t>
            </a:r>
          </a:p>
        </p:txBody>
      </p:sp>
      <p:sp>
        <p:nvSpPr>
          <p:cNvPr id="33" name="TextBox 32"/>
          <p:cNvSpPr txBox="1"/>
          <p:nvPr/>
        </p:nvSpPr>
        <p:spPr>
          <a:xfrm>
            <a:off x="6647688" y="3785616"/>
            <a:ext cx="2148840" cy="758952"/>
          </a:xfrm>
          <a:prstGeom prst="rect">
            <a:avLst/>
          </a:prstGeom>
          <a:noFill/>
        </p:spPr>
        <p:txBody>
          <a:bodyPr wrap="square" lIns="54864" tIns="27432" rIns="45720" bIns="27432">
            <a:spAutoFit/>
          </a:bodyPr>
          <a:lstStyle/>
          <a:p>
            <a:r>
              <a:rPr sz="1200" b="0">
                <a:solidFill>
                  <a:srgbClr val="283446"/>
                </a:solidFill>
                <a:latin typeface="Aptos"/>
              </a:rPr>
              <a:t>Data visualizations</a:t>
            </a:r>
          </a:p>
        </p:txBody>
      </p:sp>
      <p:sp>
        <p:nvSpPr>
          <p:cNvPr id="34" name="Rounded Rectangle 33"/>
          <p:cNvSpPr/>
          <p:nvPr/>
        </p:nvSpPr>
        <p:spPr>
          <a:xfrm>
            <a:off x="9281160" y="3291840"/>
            <a:ext cx="2514600" cy="13258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281160" y="3337560"/>
            <a:ext cx="64008" cy="1234439"/>
          </a:xfrm>
          <a:prstGeom prst="rect">
            <a:avLst/>
          </a:prstGeom>
          <a:solidFill>
            <a:srgbClr val="E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482328" y="3419856"/>
            <a:ext cx="2148840" cy="310896"/>
          </a:xfrm>
          <a:prstGeom prst="rect">
            <a:avLst/>
          </a:prstGeom>
          <a:noFill/>
        </p:spPr>
        <p:txBody>
          <a:bodyPr wrap="square" lIns="54864" tIns="27432" rIns="45720" bIns="27432">
            <a:spAutoFit/>
          </a:bodyPr>
          <a:lstStyle/>
          <a:p>
            <a:r>
              <a:rPr sz="1500" b="1">
                <a:solidFill>
                  <a:srgbClr val="121F38"/>
                </a:solidFill>
                <a:latin typeface="Aptos"/>
              </a:rPr>
              <a:t>OpenPyXL</a:t>
            </a:r>
          </a:p>
        </p:txBody>
      </p:sp>
      <p:sp>
        <p:nvSpPr>
          <p:cNvPr id="37" name="TextBox 36"/>
          <p:cNvSpPr txBox="1"/>
          <p:nvPr/>
        </p:nvSpPr>
        <p:spPr>
          <a:xfrm>
            <a:off x="9482328" y="3785616"/>
            <a:ext cx="2148840" cy="758952"/>
          </a:xfrm>
          <a:prstGeom prst="rect">
            <a:avLst/>
          </a:prstGeom>
          <a:noFill/>
        </p:spPr>
        <p:txBody>
          <a:bodyPr wrap="square" lIns="54864" tIns="27432" rIns="45720" bIns="27432">
            <a:spAutoFit/>
          </a:bodyPr>
          <a:lstStyle/>
          <a:p>
            <a:r>
              <a:rPr sz="1200" b="0">
                <a:solidFill>
                  <a:srgbClr val="283446"/>
                </a:solidFill>
                <a:latin typeface="Aptos"/>
              </a:rPr>
              <a:t>Excel file reading support</a:t>
            </a:r>
          </a:p>
        </p:txBody>
      </p:sp>
      <p:sp>
        <p:nvSpPr>
          <p:cNvPr id="38" name="Rounded Rectangle 37"/>
          <p:cNvSpPr/>
          <p:nvPr/>
        </p:nvSpPr>
        <p:spPr>
          <a:xfrm>
            <a:off x="822960" y="5303520"/>
            <a:ext cx="10515600" cy="6400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22960" y="5349240"/>
            <a:ext cx="64008" cy="548640"/>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24128" y="5431536"/>
            <a:ext cx="10149840" cy="310896"/>
          </a:xfrm>
          <a:prstGeom prst="rect">
            <a:avLst/>
          </a:prstGeom>
          <a:noFill/>
        </p:spPr>
        <p:txBody>
          <a:bodyPr wrap="square" lIns="54864" tIns="27432" rIns="45720" bIns="27432">
            <a:spAutoFit/>
          </a:bodyPr>
          <a:lstStyle/>
          <a:p>
            <a:r>
              <a:rPr sz="1500" b="1">
                <a:solidFill>
                  <a:srgbClr val="121F38"/>
                </a:solidFill>
                <a:latin typeface="Aptos"/>
              </a:rPr>
              <a:t>Technology benefit</a:t>
            </a:r>
          </a:p>
        </p:txBody>
      </p:sp>
      <p:sp>
        <p:nvSpPr>
          <p:cNvPr id="41" name="TextBox 40"/>
          <p:cNvSpPr txBox="1"/>
          <p:nvPr/>
        </p:nvSpPr>
        <p:spPr>
          <a:xfrm>
            <a:off x="1024128" y="5705856"/>
            <a:ext cx="10149840" cy="73151"/>
          </a:xfrm>
          <a:prstGeom prst="rect">
            <a:avLst/>
          </a:prstGeom>
          <a:noFill/>
        </p:spPr>
        <p:txBody>
          <a:bodyPr wrap="square" lIns="54864" tIns="27432" rIns="45720" bIns="27432">
            <a:spAutoFit/>
          </a:bodyPr>
          <a:lstStyle/>
          <a:p>
            <a:r>
              <a:rPr sz="1200" b="0" dirty="0">
                <a:solidFill>
                  <a:srgbClr val="283446"/>
                </a:solidFill>
                <a:latin typeface="Aptos"/>
              </a:rPr>
              <a:t>A Python-based stack brings data processing, graph analysis and interactive visualization together.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789920" cy="502920"/>
          </a:xfrm>
          <a:prstGeom prst="rect">
            <a:avLst/>
          </a:prstGeom>
          <a:noFill/>
        </p:spPr>
        <p:txBody>
          <a:bodyPr wrap="square" lIns="54864" tIns="27432" rIns="45720" bIns="27432">
            <a:spAutoFit/>
          </a:bodyPr>
          <a:lstStyle/>
          <a:p>
            <a:r>
              <a:rPr sz="2700" b="1">
                <a:solidFill>
                  <a:srgbClr val="121F38"/>
                </a:solidFill>
                <a:latin typeface="Aptos"/>
              </a:rPr>
              <a:t>Implementation</a:t>
            </a:r>
          </a:p>
        </p:txBody>
      </p:sp>
      <p:sp>
        <p:nvSpPr>
          <p:cNvPr id="3" name="Rectangle 2"/>
          <p:cNvSpPr/>
          <p:nvPr/>
        </p:nvSpPr>
        <p:spPr>
          <a:xfrm>
            <a:off x="640080" y="932688"/>
            <a:ext cx="749808" cy="54864"/>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473952"/>
            <a:ext cx="2743200" cy="182880"/>
          </a:xfrm>
          <a:prstGeom prst="rect">
            <a:avLst/>
          </a:prstGeom>
          <a:noFill/>
        </p:spPr>
        <p:txBody>
          <a:bodyPr wrap="square" lIns="54864" tIns="27432" rIns="45720" bIns="27432">
            <a:spAutoFit/>
          </a:bodyPr>
          <a:lstStyle/>
          <a:p>
            <a:r>
              <a:rPr sz="900" b="1">
                <a:solidFill>
                  <a:srgbClr val="647387"/>
                </a:solidFill>
                <a:latin typeface="Aptos"/>
              </a:rPr>
              <a:t>WEBGRAPH ANALYTICS</a:t>
            </a:r>
          </a:p>
        </p:txBody>
      </p:sp>
      <p:sp>
        <p:nvSpPr>
          <p:cNvPr id="5" name="TextBox 4"/>
          <p:cNvSpPr txBox="1"/>
          <p:nvPr/>
        </p:nvSpPr>
        <p:spPr>
          <a:xfrm>
            <a:off x="11155680" y="6473952"/>
            <a:ext cx="411480" cy="182880"/>
          </a:xfrm>
          <a:prstGeom prst="rect">
            <a:avLst/>
          </a:prstGeom>
          <a:noFill/>
        </p:spPr>
        <p:txBody>
          <a:bodyPr wrap="square" lIns="54864" tIns="27432" rIns="45720" bIns="27432">
            <a:spAutoFit/>
          </a:bodyPr>
          <a:lstStyle/>
          <a:p>
            <a:pPr algn="r"/>
            <a:r>
              <a:rPr sz="1000" b="1">
                <a:solidFill>
                  <a:srgbClr val="647387"/>
                </a:solidFill>
                <a:latin typeface="Aptos"/>
              </a:rPr>
              <a:t>10</a:t>
            </a:r>
          </a:p>
        </p:txBody>
      </p:sp>
      <p:sp>
        <p:nvSpPr>
          <p:cNvPr id="6" name="Rounded Rectangle 5"/>
          <p:cNvSpPr/>
          <p:nvPr/>
        </p:nvSpPr>
        <p:spPr>
          <a:xfrm>
            <a:off x="777240" y="132588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371600"/>
            <a:ext cx="64008" cy="1005839"/>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453895"/>
            <a:ext cx="4800600" cy="310896"/>
          </a:xfrm>
          <a:prstGeom prst="rect">
            <a:avLst/>
          </a:prstGeom>
          <a:noFill/>
        </p:spPr>
        <p:txBody>
          <a:bodyPr wrap="square" lIns="54864" tIns="27432" rIns="45720" bIns="27432">
            <a:spAutoFit/>
          </a:bodyPr>
          <a:lstStyle/>
          <a:p>
            <a:r>
              <a:rPr sz="1500" b="1">
                <a:solidFill>
                  <a:srgbClr val="121F38"/>
                </a:solidFill>
                <a:latin typeface="Aptos"/>
              </a:rPr>
              <a:t>1. Load data</a:t>
            </a:r>
          </a:p>
        </p:txBody>
      </p:sp>
      <p:sp>
        <p:nvSpPr>
          <p:cNvPr id="9" name="TextBox 8"/>
          <p:cNvSpPr txBox="1"/>
          <p:nvPr/>
        </p:nvSpPr>
        <p:spPr>
          <a:xfrm>
            <a:off x="978408" y="1819656"/>
            <a:ext cx="4800600" cy="530352"/>
          </a:xfrm>
          <a:prstGeom prst="rect">
            <a:avLst/>
          </a:prstGeom>
          <a:noFill/>
        </p:spPr>
        <p:txBody>
          <a:bodyPr wrap="square" lIns="54864" tIns="27432" rIns="45720" bIns="27432">
            <a:spAutoFit/>
          </a:bodyPr>
          <a:lstStyle/>
          <a:p>
            <a:r>
              <a:rPr sz="1200" b="0">
                <a:solidFill>
                  <a:srgbClr val="283446"/>
                </a:solidFill>
                <a:latin typeface="Aptos"/>
              </a:rPr>
              <a:t>Load the bundled dataset or accept a CSV/Excel upload.</a:t>
            </a:r>
          </a:p>
        </p:txBody>
      </p:sp>
      <p:sp>
        <p:nvSpPr>
          <p:cNvPr id="10" name="Rounded Rectangle 9"/>
          <p:cNvSpPr/>
          <p:nvPr/>
        </p:nvSpPr>
        <p:spPr>
          <a:xfrm>
            <a:off x="6355079" y="132588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55079" y="1371600"/>
            <a:ext cx="64008" cy="1005839"/>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56247" y="1453895"/>
            <a:ext cx="4800600" cy="310896"/>
          </a:xfrm>
          <a:prstGeom prst="rect">
            <a:avLst/>
          </a:prstGeom>
          <a:noFill/>
        </p:spPr>
        <p:txBody>
          <a:bodyPr wrap="square" lIns="54864" tIns="27432" rIns="45720" bIns="27432">
            <a:spAutoFit/>
          </a:bodyPr>
          <a:lstStyle/>
          <a:p>
            <a:r>
              <a:rPr sz="1500" b="1">
                <a:solidFill>
                  <a:srgbClr val="121F38"/>
                </a:solidFill>
                <a:latin typeface="Aptos"/>
              </a:rPr>
              <a:t>2. Prepare data</a:t>
            </a:r>
          </a:p>
        </p:txBody>
      </p:sp>
      <p:sp>
        <p:nvSpPr>
          <p:cNvPr id="13" name="TextBox 12"/>
          <p:cNvSpPr txBox="1"/>
          <p:nvPr/>
        </p:nvSpPr>
        <p:spPr>
          <a:xfrm>
            <a:off x="6556247" y="1819656"/>
            <a:ext cx="4800600" cy="530352"/>
          </a:xfrm>
          <a:prstGeom prst="rect">
            <a:avLst/>
          </a:prstGeom>
          <a:noFill/>
        </p:spPr>
        <p:txBody>
          <a:bodyPr wrap="square" lIns="54864" tIns="27432" rIns="45720" bIns="27432">
            <a:spAutoFit/>
          </a:bodyPr>
          <a:lstStyle/>
          <a:p>
            <a:r>
              <a:rPr sz="1200" b="0">
                <a:solidFill>
                  <a:srgbClr val="283446"/>
                </a:solidFill>
                <a:latin typeface="Aptos"/>
              </a:rPr>
              <a:t>Check the required fields and parse event timestamps.</a:t>
            </a:r>
          </a:p>
        </p:txBody>
      </p:sp>
      <p:sp>
        <p:nvSpPr>
          <p:cNvPr id="14" name="Rounded Rectangle 13"/>
          <p:cNvSpPr/>
          <p:nvPr/>
        </p:nvSpPr>
        <p:spPr>
          <a:xfrm>
            <a:off x="777240" y="274320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7240" y="2788920"/>
            <a:ext cx="64008" cy="1005839"/>
          </a:xfrm>
          <a:prstGeom prst="rect">
            <a:avLst/>
          </a:prstGeom>
          <a:solidFill>
            <a:srgbClr val="369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8408" y="2871216"/>
            <a:ext cx="4800600" cy="310896"/>
          </a:xfrm>
          <a:prstGeom prst="rect">
            <a:avLst/>
          </a:prstGeom>
          <a:noFill/>
        </p:spPr>
        <p:txBody>
          <a:bodyPr wrap="square" lIns="54864" tIns="27432" rIns="45720" bIns="27432">
            <a:spAutoFit/>
          </a:bodyPr>
          <a:lstStyle/>
          <a:p>
            <a:r>
              <a:rPr sz="1500" b="1">
                <a:solidFill>
                  <a:srgbClr val="121F38"/>
                </a:solidFill>
                <a:latin typeface="Aptos"/>
              </a:rPr>
              <a:t>3. Form journeys</a:t>
            </a:r>
          </a:p>
        </p:txBody>
      </p:sp>
      <p:sp>
        <p:nvSpPr>
          <p:cNvPr id="17" name="TextBox 16"/>
          <p:cNvSpPr txBox="1"/>
          <p:nvPr/>
        </p:nvSpPr>
        <p:spPr>
          <a:xfrm>
            <a:off x="978408" y="3236976"/>
            <a:ext cx="4800600" cy="530352"/>
          </a:xfrm>
          <a:prstGeom prst="rect">
            <a:avLst/>
          </a:prstGeom>
          <a:noFill/>
        </p:spPr>
        <p:txBody>
          <a:bodyPr wrap="square" lIns="54864" tIns="27432" rIns="45720" bIns="27432">
            <a:spAutoFit/>
          </a:bodyPr>
          <a:lstStyle/>
          <a:p>
            <a:r>
              <a:rPr sz="1200" b="0">
                <a:solidFill>
                  <a:srgbClr val="283446"/>
                </a:solidFill>
                <a:latin typeface="Aptos"/>
              </a:rPr>
              <a:t>Sort page visits and identify each user's next page.</a:t>
            </a:r>
          </a:p>
        </p:txBody>
      </p:sp>
      <p:sp>
        <p:nvSpPr>
          <p:cNvPr id="18" name="Rounded Rectangle 17"/>
          <p:cNvSpPr/>
          <p:nvPr/>
        </p:nvSpPr>
        <p:spPr>
          <a:xfrm>
            <a:off x="6355079" y="274320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55079" y="2788920"/>
            <a:ext cx="64008" cy="1005839"/>
          </a:xfrm>
          <a:prstGeom prst="rect">
            <a:avLst/>
          </a:prstGeom>
          <a:solidFill>
            <a:srgbClr val="E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56247" y="2871216"/>
            <a:ext cx="4800600" cy="310896"/>
          </a:xfrm>
          <a:prstGeom prst="rect">
            <a:avLst/>
          </a:prstGeom>
          <a:noFill/>
        </p:spPr>
        <p:txBody>
          <a:bodyPr wrap="square" lIns="54864" tIns="27432" rIns="45720" bIns="27432">
            <a:spAutoFit/>
          </a:bodyPr>
          <a:lstStyle/>
          <a:p>
            <a:r>
              <a:rPr sz="1500" b="1">
                <a:solidFill>
                  <a:srgbClr val="121F38"/>
                </a:solidFill>
                <a:latin typeface="Aptos"/>
              </a:rPr>
              <a:t>4. Build graph</a:t>
            </a:r>
          </a:p>
        </p:txBody>
      </p:sp>
      <p:sp>
        <p:nvSpPr>
          <p:cNvPr id="21" name="TextBox 20"/>
          <p:cNvSpPr txBox="1"/>
          <p:nvPr/>
        </p:nvSpPr>
        <p:spPr>
          <a:xfrm>
            <a:off x="6556247" y="3236976"/>
            <a:ext cx="4800600" cy="530352"/>
          </a:xfrm>
          <a:prstGeom prst="rect">
            <a:avLst/>
          </a:prstGeom>
          <a:noFill/>
        </p:spPr>
        <p:txBody>
          <a:bodyPr wrap="square" lIns="54864" tIns="27432" rIns="45720" bIns="27432">
            <a:spAutoFit/>
          </a:bodyPr>
          <a:lstStyle/>
          <a:p>
            <a:r>
              <a:rPr sz="1200" b="0">
                <a:solidFill>
                  <a:srgbClr val="283446"/>
                </a:solidFill>
                <a:latin typeface="Aptos"/>
              </a:rPr>
              <a:t>Count page-to-page transitions and assign edge weights.</a:t>
            </a:r>
          </a:p>
        </p:txBody>
      </p:sp>
      <p:sp>
        <p:nvSpPr>
          <p:cNvPr id="22" name="Rounded Rectangle 21"/>
          <p:cNvSpPr/>
          <p:nvPr/>
        </p:nvSpPr>
        <p:spPr>
          <a:xfrm>
            <a:off x="777240" y="416052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77240" y="4206240"/>
            <a:ext cx="64008" cy="1005839"/>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8" y="4288536"/>
            <a:ext cx="4800600" cy="310896"/>
          </a:xfrm>
          <a:prstGeom prst="rect">
            <a:avLst/>
          </a:prstGeom>
          <a:noFill/>
        </p:spPr>
        <p:txBody>
          <a:bodyPr wrap="square" lIns="54864" tIns="27432" rIns="45720" bIns="27432">
            <a:spAutoFit/>
          </a:bodyPr>
          <a:lstStyle/>
          <a:p>
            <a:r>
              <a:rPr sz="1500" b="1">
                <a:solidFill>
                  <a:srgbClr val="121F38"/>
                </a:solidFill>
                <a:latin typeface="Aptos"/>
              </a:rPr>
              <a:t>5. Run analysis</a:t>
            </a:r>
          </a:p>
        </p:txBody>
      </p:sp>
      <p:sp>
        <p:nvSpPr>
          <p:cNvPr id="25" name="TextBox 24"/>
          <p:cNvSpPr txBox="1"/>
          <p:nvPr/>
        </p:nvSpPr>
        <p:spPr>
          <a:xfrm>
            <a:off x="978408" y="4654296"/>
            <a:ext cx="4800600" cy="530352"/>
          </a:xfrm>
          <a:prstGeom prst="rect">
            <a:avLst/>
          </a:prstGeom>
          <a:noFill/>
        </p:spPr>
        <p:txBody>
          <a:bodyPr wrap="square" lIns="54864" tIns="27432" rIns="45720" bIns="27432">
            <a:spAutoFit/>
          </a:bodyPr>
          <a:lstStyle/>
          <a:p>
            <a:r>
              <a:rPr sz="1200" b="0">
                <a:solidFill>
                  <a:srgbClr val="283446"/>
                </a:solidFill>
                <a:latin typeface="Aptos"/>
              </a:rPr>
              <a:t>Calculate shortest paths, centrality, PageRank and communities.</a:t>
            </a:r>
          </a:p>
        </p:txBody>
      </p:sp>
      <p:sp>
        <p:nvSpPr>
          <p:cNvPr id="26" name="Rounded Rectangle 25"/>
          <p:cNvSpPr/>
          <p:nvPr/>
        </p:nvSpPr>
        <p:spPr>
          <a:xfrm>
            <a:off x="6355079" y="4160520"/>
            <a:ext cx="5166360" cy="109728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55079" y="4206240"/>
            <a:ext cx="64008" cy="1005839"/>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56247" y="4288536"/>
            <a:ext cx="4800600" cy="310896"/>
          </a:xfrm>
          <a:prstGeom prst="rect">
            <a:avLst/>
          </a:prstGeom>
          <a:noFill/>
        </p:spPr>
        <p:txBody>
          <a:bodyPr wrap="square" lIns="54864" tIns="27432" rIns="45720" bIns="27432">
            <a:spAutoFit/>
          </a:bodyPr>
          <a:lstStyle/>
          <a:p>
            <a:r>
              <a:rPr sz="1500" b="1">
                <a:solidFill>
                  <a:srgbClr val="121F38"/>
                </a:solidFill>
                <a:latin typeface="Aptos"/>
              </a:rPr>
              <a:t>6. Display results</a:t>
            </a:r>
          </a:p>
        </p:txBody>
      </p:sp>
      <p:sp>
        <p:nvSpPr>
          <p:cNvPr id="29" name="TextBox 28"/>
          <p:cNvSpPr txBox="1"/>
          <p:nvPr/>
        </p:nvSpPr>
        <p:spPr>
          <a:xfrm>
            <a:off x="6556247" y="4654296"/>
            <a:ext cx="4800600" cy="530352"/>
          </a:xfrm>
          <a:prstGeom prst="rect">
            <a:avLst/>
          </a:prstGeom>
          <a:noFill/>
        </p:spPr>
        <p:txBody>
          <a:bodyPr wrap="square" lIns="54864" tIns="27432" rIns="45720" bIns="27432">
            <a:spAutoFit/>
          </a:bodyPr>
          <a:lstStyle/>
          <a:p>
            <a:r>
              <a:rPr sz="1200" b="0">
                <a:solidFill>
                  <a:srgbClr val="283446"/>
                </a:solidFill>
                <a:latin typeface="Aptos"/>
              </a:rPr>
              <a:t>Show graph metrics, charts and available CSV downloads.</a:t>
            </a:r>
          </a:p>
        </p:txBody>
      </p:sp>
      <p:pic>
        <p:nvPicPr>
          <p:cNvPr id="32" name="Picture 31">
            <a:extLst>
              <a:ext uri="{FF2B5EF4-FFF2-40B4-BE49-F238E27FC236}">
                <a16:creationId xmlns:a16="http://schemas.microsoft.com/office/drawing/2014/main" id="{ED7AF6CB-476E-105B-CD64-8BFA75DA77AD}"/>
              </a:ext>
            </a:extLst>
          </p:cNvPr>
          <p:cNvPicPr>
            <a:picLocks noChangeAspect="1"/>
          </p:cNvPicPr>
          <p:nvPr/>
        </p:nvPicPr>
        <p:blipFill>
          <a:blip r:embed="rId2"/>
          <a:stretch>
            <a:fillRect/>
          </a:stretch>
        </p:blipFill>
        <p:spPr>
          <a:xfrm>
            <a:off x="429584" y="1108633"/>
            <a:ext cx="11580354" cy="52136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789920" cy="502920"/>
          </a:xfrm>
          <a:prstGeom prst="rect">
            <a:avLst/>
          </a:prstGeom>
          <a:noFill/>
        </p:spPr>
        <p:txBody>
          <a:bodyPr wrap="square" lIns="54864" tIns="27432" rIns="45720" bIns="27432">
            <a:spAutoFit/>
          </a:bodyPr>
          <a:lstStyle/>
          <a:p>
            <a:r>
              <a:rPr sz="2700" b="1">
                <a:solidFill>
                  <a:srgbClr val="121F38"/>
                </a:solidFill>
                <a:latin typeface="Aptos"/>
              </a:rPr>
              <a:t>Solution and Results</a:t>
            </a:r>
          </a:p>
        </p:txBody>
      </p:sp>
      <p:sp>
        <p:nvSpPr>
          <p:cNvPr id="3" name="Rectangle 2"/>
          <p:cNvSpPr/>
          <p:nvPr/>
        </p:nvSpPr>
        <p:spPr>
          <a:xfrm>
            <a:off x="640080" y="932688"/>
            <a:ext cx="749808" cy="54864"/>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6473952"/>
            <a:ext cx="2743200" cy="182880"/>
          </a:xfrm>
          <a:prstGeom prst="rect">
            <a:avLst/>
          </a:prstGeom>
          <a:noFill/>
        </p:spPr>
        <p:txBody>
          <a:bodyPr wrap="square" lIns="54864" tIns="27432" rIns="45720" bIns="27432">
            <a:spAutoFit/>
          </a:bodyPr>
          <a:lstStyle/>
          <a:p>
            <a:r>
              <a:rPr sz="900" b="1">
                <a:solidFill>
                  <a:srgbClr val="647387"/>
                </a:solidFill>
                <a:latin typeface="Aptos"/>
              </a:rPr>
              <a:t>WEBGRAPH ANALYTICS</a:t>
            </a:r>
          </a:p>
        </p:txBody>
      </p:sp>
      <p:sp>
        <p:nvSpPr>
          <p:cNvPr id="5" name="TextBox 4"/>
          <p:cNvSpPr txBox="1"/>
          <p:nvPr/>
        </p:nvSpPr>
        <p:spPr>
          <a:xfrm>
            <a:off x="11155680" y="6473952"/>
            <a:ext cx="411480" cy="182880"/>
          </a:xfrm>
          <a:prstGeom prst="rect">
            <a:avLst/>
          </a:prstGeom>
          <a:noFill/>
        </p:spPr>
        <p:txBody>
          <a:bodyPr wrap="square" lIns="54864" tIns="27432" rIns="45720" bIns="27432">
            <a:spAutoFit/>
          </a:bodyPr>
          <a:lstStyle/>
          <a:p>
            <a:pPr algn="r"/>
            <a:r>
              <a:rPr sz="1000" b="1">
                <a:solidFill>
                  <a:srgbClr val="647387"/>
                </a:solidFill>
                <a:latin typeface="Aptos"/>
              </a:rPr>
              <a:t>11</a:t>
            </a:r>
          </a:p>
        </p:txBody>
      </p:sp>
      <p:sp>
        <p:nvSpPr>
          <p:cNvPr id="6" name="Rounded Rectangle 5"/>
          <p:cNvSpPr/>
          <p:nvPr/>
        </p:nvSpPr>
        <p:spPr>
          <a:xfrm>
            <a:off x="731520" y="1417320"/>
            <a:ext cx="1600200" cy="141732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463040"/>
            <a:ext cx="64008" cy="1325880"/>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1545336"/>
            <a:ext cx="1234440" cy="310896"/>
          </a:xfrm>
          <a:prstGeom prst="rect">
            <a:avLst/>
          </a:prstGeom>
          <a:noFill/>
        </p:spPr>
        <p:txBody>
          <a:bodyPr wrap="square" lIns="54864" tIns="27432" rIns="45720" bIns="27432">
            <a:spAutoFit/>
          </a:bodyPr>
          <a:lstStyle/>
          <a:p>
            <a:r>
              <a:rPr sz="1400" b="1">
                <a:solidFill>
                  <a:srgbClr val="121F38"/>
                </a:solidFill>
                <a:latin typeface="Aptos"/>
              </a:rPr>
              <a:t>Input</a:t>
            </a:r>
          </a:p>
        </p:txBody>
      </p:sp>
      <p:sp>
        <p:nvSpPr>
          <p:cNvPr id="9" name="TextBox 8"/>
          <p:cNvSpPr txBox="1"/>
          <p:nvPr/>
        </p:nvSpPr>
        <p:spPr>
          <a:xfrm>
            <a:off x="932688" y="1911095"/>
            <a:ext cx="1234440" cy="850392"/>
          </a:xfrm>
          <a:prstGeom prst="rect">
            <a:avLst/>
          </a:prstGeom>
          <a:noFill/>
        </p:spPr>
        <p:txBody>
          <a:bodyPr wrap="square" lIns="54864" tIns="27432" rIns="45720" bIns="27432">
            <a:spAutoFit/>
          </a:bodyPr>
          <a:lstStyle/>
          <a:p>
            <a:r>
              <a:rPr sz="1100" b="0">
                <a:solidFill>
                  <a:srgbClr val="283446"/>
                </a:solidFill>
                <a:latin typeface="Aptos"/>
              </a:rPr>
              <a:t>Dataset / upload</a:t>
            </a:r>
          </a:p>
        </p:txBody>
      </p:sp>
      <p:cxnSp>
        <p:nvCxnSpPr>
          <p:cNvPr id="10" name="Connector 9"/>
          <p:cNvCxnSpPr/>
          <p:nvPr/>
        </p:nvCxnSpPr>
        <p:spPr>
          <a:xfrm>
            <a:off x="2359152" y="2103120"/>
            <a:ext cx="612648" cy="0"/>
          </a:xfrm>
          <a:prstGeom prst="line">
            <a:avLst/>
          </a:prstGeom>
          <a:ln w="17780">
            <a:solidFill>
              <a:srgbClr val="647387"/>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017520" y="1417320"/>
            <a:ext cx="1600200" cy="141732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017520" y="1463040"/>
            <a:ext cx="64008" cy="1325880"/>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18688" y="1545336"/>
            <a:ext cx="1234440" cy="310896"/>
          </a:xfrm>
          <a:prstGeom prst="rect">
            <a:avLst/>
          </a:prstGeom>
          <a:noFill/>
        </p:spPr>
        <p:txBody>
          <a:bodyPr wrap="square" lIns="54864" tIns="27432" rIns="45720" bIns="27432">
            <a:spAutoFit/>
          </a:bodyPr>
          <a:lstStyle/>
          <a:p>
            <a:r>
              <a:rPr sz="1400" b="1">
                <a:solidFill>
                  <a:srgbClr val="121F38"/>
                </a:solidFill>
                <a:latin typeface="Aptos"/>
              </a:rPr>
              <a:t>Prepare</a:t>
            </a:r>
          </a:p>
        </p:txBody>
      </p:sp>
      <p:sp>
        <p:nvSpPr>
          <p:cNvPr id="14" name="TextBox 13"/>
          <p:cNvSpPr txBox="1"/>
          <p:nvPr/>
        </p:nvSpPr>
        <p:spPr>
          <a:xfrm>
            <a:off x="3218688" y="1911095"/>
            <a:ext cx="1234440" cy="850392"/>
          </a:xfrm>
          <a:prstGeom prst="rect">
            <a:avLst/>
          </a:prstGeom>
          <a:noFill/>
        </p:spPr>
        <p:txBody>
          <a:bodyPr wrap="square" lIns="54864" tIns="27432" rIns="45720" bIns="27432">
            <a:spAutoFit/>
          </a:bodyPr>
          <a:lstStyle/>
          <a:p>
            <a:r>
              <a:rPr sz="1100" b="0">
                <a:solidFill>
                  <a:srgbClr val="283446"/>
                </a:solidFill>
                <a:latin typeface="Aptos"/>
              </a:rPr>
              <a:t>Clean and order visits</a:t>
            </a:r>
          </a:p>
        </p:txBody>
      </p:sp>
      <p:cxnSp>
        <p:nvCxnSpPr>
          <p:cNvPr id="15" name="Connector 14"/>
          <p:cNvCxnSpPr/>
          <p:nvPr/>
        </p:nvCxnSpPr>
        <p:spPr>
          <a:xfrm>
            <a:off x="4645152" y="2103120"/>
            <a:ext cx="612648" cy="0"/>
          </a:xfrm>
          <a:prstGeom prst="line">
            <a:avLst/>
          </a:prstGeom>
          <a:ln w="17780">
            <a:solidFill>
              <a:srgbClr val="64738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303520" y="1417320"/>
            <a:ext cx="1600200" cy="141732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303520" y="1463040"/>
            <a:ext cx="64008" cy="1325880"/>
          </a:xfrm>
          <a:prstGeom prst="rect">
            <a:avLst/>
          </a:prstGeom>
          <a:solidFill>
            <a:srgbClr val="369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04688" y="1545336"/>
            <a:ext cx="1234440" cy="310896"/>
          </a:xfrm>
          <a:prstGeom prst="rect">
            <a:avLst/>
          </a:prstGeom>
          <a:noFill/>
        </p:spPr>
        <p:txBody>
          <a:bodyPr wrap="square" lIns="54864" tIns="27432" rIns="45720" bIns="27432">
            <a:spAutoFit/>
          </a:bodyPr>
          <a:lstStyle/>
          <a:p>
            <a:r>
              <a:rPr sz="1400" b="1">
                <a:solidFill>
                  <a:srgbClr val="121F38"/>
                </a:solidFill>
                <a:latin typeface="Aptos"/>
              </a:rPr>
              <a:t>Graph</a:t>
            </a:r>
          </a:p>
        </p:txBody>
      </p:sp>
      <p:sp>
        <p:nvSpPr>
          <p:cNvPr id="19" name="TextBox 18"/>
          <p:cNvSpPr txBox="1"/>
          <p:nvPr/>
        </p:nvSpPr>
        <p:spPr>
          <a:xfrm>
            <a:off x="5504688" y="1911095"/>
            <a:ext cx="1234440" cy="850392"/>
          </a:xfrm>
          <a:prstGeom prst="rect">
            <a:avLst/>
          </a:prstGeom>
          <a:noFill/>
        </p:spPr>
        <p:txBody>
          <a:bodyPr wrap="square" lIns="54864" tIns="27432" rIns="45720" bIns="27432">
            <a:spAutoFit/>
          </a:bodyPr>
          <a:lstStyle/>
          <a:p>
            <a:r>
              <a:rPr sz="1100" b="0">
                <a:solidFill>
                  <a:srgbClr val="283446"/>
                </a:solidFill>
                <a:latin typeface="Aptos"/>
              </a:rPr>
              <a:t>Nodes + weighted edges</a:t>
            </a:r>
          </a:p>
        </p:txBody>
      </p:sp>
      <p:cxnSp>
        <p:nvCxnSpPr>
          <p:cNvPr id="20" name="Connector 19"/>
          <p:cNvCxnSpPr/>
          <p:nvPr/>
        </p:nvCxnSpPr>
        <p:spPr>
          <a:xfrm>
            <a:off x="6931152" y="2103120"/>
            <a:ext cx="612648" cy="0"/>
          </a:xfrm>
          <a:prstGeom prst="line">
            <a:avLst/>
          </a:prstGeom>
          <a:ln w="17780">
            <a:solidFill>
              <a:srgbClr val="647387"/>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89520" y="1417320"/>
            <a:ext cx="1600200" cy="141732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589520" y="1463040"/>
            <a:ext cx="64008" cy="1325880"/>
          </a:xfrm>
          <a:prstGeom prst="rect">
            <a:avLst/>
          </a:prstGeom>
          <a:solidFill>
            <a:srgbClr val="E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90688" y="1545336"/>
            <a:ext cx="1234440" cy="310896"/>
          </a:xfrm>
          <a:prstGeom prst="rect">
            <a:avLst/>
          </a:prstGeom>
          <a:noFill/>
        </p:spPr>
        <p:txBody>
          <a:bodyPr wrap="square" lIns="54864" tIns="27432" rIns="45720" bIns="27432">
            <a:spAutoFit/>
          </a:bodyPr>
          <a:lstStyle/>
          <a:p>
            <a:r>
              <a:rPr sz="1400" b="1">
                <a:solidFill>
                  <a:srgbClr val="121F38"/>
                </a:solidFill>
                <a:latin typeface="Aptos"/>
              </a:rPr>
              <a:t>Analyze</a:t>
            </a:r>
          </a:p>
        </p:txBody>
      </p:sp>
      <p:sp>
        <p:nvSpPr>
          <p:cNvPr id="24" name="TextBox 23"/>
          <p:cNvSpPr txBox="1"/>
          <p:nvPr/>
        </p:nvSpPr>
        <p:spPr>
          <a:xfrm>
            <a:off x="7790688" y="1911095"/>
            <a:ext cx="1234440" cy="850392"/>
          </a:xfrm>
          <a:prstGeom prst="rect">
            <a:avLst/>
          </a:prstGeom>
          <a:noFill/>
        </p:spPr>
        <p:txBody>
          <a:bodyPr wrap="square" lIns="54864" tIns="27432" rIns="45720" bIns="27432">
            <a:spAutoFit/>
          </a:bodyPr>
          <a:lstStyle/>
          <a:p>
            <a:r>
              <a:rPr sz="1100" b="0">
                <a:solidFill>
                  <a:srgbClr val="283446"/>
                </a:solidFill>
                <a:latin typeface="Aptos"/>
              </a:rPr>
              <a:t>Paths and metrics</a:t>
            </a:r>
          </a:p>
        </p:txBody>
      </p:sp>
      <p:cxnSp>
        <p:nvCxnSpPr>
          <p:cNvPr id="25" name="Connector 24"/>
          <p:cNvCxnSpPr/>
          <p:nvPr/>
        </p:nvCxnSpPr>
        <p:spPr>
          <a:xfrm>
            <a:off x="9217152" y="2103120"/>
            <a:ext cx="612648" cy="0"/>
          </a:xfrm>
          <a:prstGeom prst="line">
            <a:avLst/>
          </a:prstGeom>
          <a:ln w="17780">
            <a:solidFill>
              <a:srgbClr val="647387"/>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875520" y="1417320"/>
            <a:ext cx="1600200" cy="141732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875520" y="1463040"/>
            <a:ext cx="64008" cy="1325880"/>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76688" y="1545336"/>
            <a:ext cx="1234440" cy="310896"/>
          </a:xfrm>
          <a:prstGeom prst="rect">
            <a:avLst/>
          </a:prstGeom>
          <a:noFill/>
        </p:spPr>
        <p:txBody>
          <a:bodyPr wrap="square" lIns="54864" tIns="27432" rIns="45720" bIns="27432">
            <a:spAutoFit/>
          </a:bodyPr>
          <a:lstStyle/>
          <a:p>
            <a:r>
              <a:rPr sz="1400" b="1">
                <a:solidFill>
                  <a:srgbClr val="121F38"/>
                </a:solidFill>
                <a:latin typeface="Aptos"/>
              </a:rPr>
              <a:t>Present</a:t>
            </a:r>
          </a:p>
        </p:txBody>
      </p:sp>
      <p:sp>
        <p:nvSpPr>
          <p:cNvPr id="29" name="TextBox 28"/>
          <p:cNvSpPr txBox="1"/>
          <p:nvPr/>
        </p:nvSpPr>
        <p:spPr>
          <a:xfrm>
            <a:off x="10076688" y="1911095"/>
            <a:ext cx="1234440" cy="850392"/>
          </a:xfrm>
          <a:prstGeom prst="rect">
            <a:avLst/>
          </a:prstGeom>
          <a:noFill/>
        </p:spPr>
        <p:txBody>
          <a:bodyPr wrap="square" lIns="54864" tIns="27432" rIns="45720" bIns="27432">
            <a:spAutoFit/>
          </a:bodyPr>
          <a:lstStyle/>
          <a:p>
            <a:r>
              <a:rPr sz="1100" b="0">
                <a:solidFill>
                  <a:srgbClr val="283446"/>
                </a:solidFill>
                <a:latin typeface="Aptos"/>
              </a:rPr>
              <a:t>Dashboard + CSV</a:t>
            </a:r>
          </a:p>
        </p:txBody>
      </p:sp>
      <p:sp>
        <p:nvSpPr>
          <p:cNvPr id="30" name="TextBox 29"/>
          <p:cNvSpPr txBox="1"/>
          <p:nvPr/>
        </p:nvSpPr>
        <p:spPr>
          <a:xfrm>
            <a:off x="822960" y="3337560"/>
            <a:ext cx="5029200" cy="365760"/>
          </a:xfrm>
          <a:prstGeom prst="rect">
            <a:avLst/>
          </a:prstGeom>
          <a:noFill/>
        </p:spPr>
        <p:txBody>
          <a:bodyPr wrap="square" lIns="54864" tIns="27432" rIns="45720" bIns="27432">
            <a:spAutoFit/>
          </a:bodyPr>
          <a:lstStyle/>
          <a:p>
            <a:r>
              <a:rPr sz="2100" b="1">
                <a:solidFill>
                  <a:srgbClr val="121F38"/>
                </a:solidFill>
                <a:latin typeface="Aptos"/>
              </a:rPr>
              <a:t>Outputs the dashboard can provide</a:t>
            </a:r>
          </a:p>
        </p:txBody>
      </p:sp>
      <p:sp>
        <p:nvSpPr>
          <p:cNvPr id="31" name="TextBox 30"/>
          <p:cNvSpPr txBox="1"/>
          <p:nvPr/>
        </p:nvSpPr>
        <p:spPr>
          <a:xfrm>
            <a:off x="868680" y="3794760"/>
            <a:ext cx="10332720" cy="1600200"/>
          </a:xfrm>
          <a:prstGeom prst="rect">
            <a:avLst/>
          </a:prstGeom>
          <a:noFill/>
        </p:spPr>
        <p:txBody>
          <a:bodyPr wrap="square" lIns="73152" tIns="18288" rIns="45720">
            <a:spAutoFit/>
          </a:bodyPr>
          <a:lstStyle/>
          <a:p>
            <a:pPr>
              <a:spcAft>
                <a:spcPts val="1000"/>
              </a:spcAft>
              <a:defRPr sz="1600">
                <a:solidFill>
                  <a:srgbClr val="283446"/>
                </a:solidFill>
                <a:latin typeface="Aptos"/>
              </a:defRPr>
            </a:pPr>
            <a:r>
              <a:t>Visual navigation graph and transition frequencies.</a:t>
            </a:r>
          </a:p>
          <a:p>
            <a:pPr>
              <a:spcAft>
                <a:spcPts val="1000"/>
              </a:spcAft>
              <a:defRPr sz="1600">
                <a:solidFill>
                  <a:srgbClr val="283446"/>
                </a:solidFill>
                <a:latin typeface="Aptos"/>
              </a:defRPr>
            </a:pPr>
            <a:r>
              <a:t>Graph statistics and webpage centrality / PageRank results.</a:t>
            </a:r>
          </a:p>
          <a:p>
            <a:pPr>
              <a:spcAft>
                <a:spcPts val="1000"/>
              </a:spcAft>
              <a:defRPr sz="1600">
                <a:solidFill>
                  <a:srgbClr val="283446"/>
                </a:solidFill>
                <a:latin typeface="Aptos"/>
              </a:defRPr>
            </a:pPr>
            <a:r>
              <a:t>Shortest-path and community detection views.</a:t>
            </a:r>
          </a:p>
          <a:p>
            <a:pPr>
              <a:spcAft>
                <a:spcPts val="1000"/>
              </a:spcAft>
              <a:defRPr sz="1600">
                <a:solidFill>
                  <a:srgbClr val="283446"/>
                </a:solidFill>
                <a:latin typeface="Aptos"/>
              </a:defRPr>
            </a:pPr>
            <a:r>
              <a:t>Web analytics charts and supported CSV exports.</a:t>
            </a:r>
          </a:p>
        </p:txBody>
      </p:sp>
      <p:pic>
        <p:nvPicPr>
          <p:cNvPr id="34" name="Picture 33">
            <a:extLst>
              <a:ext uri="{FF2B5EF4-FFF2-40B4-BE49-F238E27FC236}">
                <a16:creationId xmlns:a16="http://schemas.microsoft.com/office/drawing/2014/main" id="{63ED2DA6-FB77-342C-0132-22EBEEE4CAB8}"/>
              </a:ext>
            </a:extLst>
          </p:cNvPr>
          <p:cNvPicPr>
            <a:picLocks noChangeAspect="1"/>
          </p:cNvPicPr>
          <p:nvPr/>
        </p:nvPicPr>
        <p:blipFill>
          <a:blip r:embed="rId2"/>
          <a:stretch>
            <a:fillRect/>
          </a:stretch>
        </p:blipFill>
        <p:spPr>
          <a:xfrm>
            <a:off x="484816" y="1112167"/>
            <a:ext cx="11206003" cy="52371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F38"/>
        </a:solidFill>
        <a:effectLst/>
      </p:bgPr>
    </p:bg>
    <p:spTree>
      <p:nvGrpSpPr>
        <p:cNvPr id="1" name=""/>
        <p:cNvGrpSpPr/>
        <p:nvPr/>
      </p:nvGrpSpPr>
      <p:grpSpPr>
        <a:xfrm>
          <a:off x="0" y="0"/>
          <a:ext cx="0" cy="0"/>
          <a:chOff x="0" y="0"/>
          <a:chExt cx="0" cy="0"/>
        </a:xfrm>
      </p:grpSpPr>
      <p:sp>
        <p:nvSpPr>
          <p:cNvPr id="2" name="TextBox 1"/>
          <p:cNvSpPr txBox="1"/>
          <p:nvPr/>
        </p:nvSpPr>
        <p:spPr>
          <a:xfrm>
            <a:off x="822960" y="777240"/>
            <a:ext cx="2743200" cy="320040"/>
          </a:xfrm>
          <a:prstGeom prst="rect">
            <a:avLst/>
          </a:prstGeom>
          <a:noFill/>
        </p:spPr>
        <p:txBody>
          <a:bodyPr wrap="square" lIns="54864" tIns="27432" rIns="45720" bIns="27432">
            <a:spAutoFit/>
          </a:bodyPr>
          <a:lstStyle/>
          <a:p>
            <a:r>
              <a:rPr sz="1300" b="1">
                <a:solidFill>
                  <a:srgbClr val="3FBED2"/>
                </a:solidFill>
                <a:latin typeface="Aptos"/>
              </a:rPr>
              <a:t>CONCLUSION</a:t>
            </a:r>
          </a:p>
        </p:txBody>
      </p:sp>
      <p:sp>
        <p:nvSpPr>
          <p:cNvPr id="3" name="TextBox 2"/>
          <p:cNvSpPr txBox="1"/>
          <p:nvPr/>
        </p:nvSpPr>
        <p:spPr>
          <a:xfrm>
            <a:off x="822960" y="1371600"/>
            <a:ext cx="10241280" cy="685800"/>
          </a:xfrm>
          <a:prstGeom prst="rect">
            <a:avLst/>
          </a:prstGeom>
          <a:noFill/>
        </p:spPr>
        <p:txBody>
          <a:bodyPr wrap="square" lIns="54864" tIns="27432" rIns="45720" bIns="27432">
            <a:spAutoFit/>
          </a:bodyPr>
          <a:lstStyle/>
          <a:p>
            <a:r>
              <a:rPr sz="2900" b="1">
                <a:solidFill>
                  <a:srgbClr val="FFFFFF"/>
                </a:solidFill>
                <a:latin typeface="Aptos"/>
              </a:rPr>
              <a:t>Turning clickstream data into navigation insights</a:t>
            </a:r>
          </a:p>
        </p:txBody>
      </p:sp>
      <p:sp>
        <p:nvSpPr>
          <p:cNvPr id="4" name="TextBox 3"/>
          <p:cNvSpPr txBox="1"/>
          <p:nvPr/>
        </p:nvSpPr>
        <p:spPr>
          <a:xfrm>
            <a:off x="868680" y="2331720"/>
            <a:ext cx="9966960" cy="1417320"/>
          </a:xfrm>
          <a:prstGeom prst="rect">
            <a:avLst/>
          </a:prstGeom>
          <a:noFill/>
        </p:spPr>
        <p:txBody>
          <a:bodyPr wrap="square" lIns="54864" tIns="27432" rIns="45720" bIns="27432">
            <a:spAutoFit/>
          </a:bodyPr>
          <a:lstStyle/>
          <a:p>
            <a:r>
              <a:rPr sz="1900" b="0">
                <a:solidFill>
                  <a:srgbClr val="DAE5F5"/>
                </a:solidFill>
                <a:latin typeface="Aptos"/>
              </a:rPr>
              <a:t>WebGraph Analytics transforms webpage visit records into a directed, weighted graph and applies graph algorithms to explore navigation paths, webpage importance and groups of related pages. Its Streamlit dashboard brings graph analytics and web analytics together in an interactive interface, with support for custom data uploads and CSV exports.</a:t>
            </a:r>
          </a:p>
        </p:txBody>
      </p:sp>
      <p:sp>
        <p:nvSpPr>
          <p:cNvPr id="5" name="Rounded Rectangle 4"/>
          <p:cNvSpPr/>
          <p:nvPr/>
        </p:nvSpPr>
        <p:spPr>
          <a:xfrm>
            <a:off x="868680" y="4297680"/>
            <a:ext cx="3154680" cy="105156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4343400"/>
            <a:ext cx="64008" cy="960119"/>
          </a:xfrm>
          <a:prstGeom prst="rect">
            <a:avLst/>
          </a:prstGeom>
          <a:solidFill>
            <a:srgbClr val="2E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69848" y="4425696"/>
            <a:ext cx="2788920" cy="310896"/>
          </a:xfrm>
          <a:prstGeom prst="rect">
            <a:avLst/>
          </a:prstGeom>
          <a:noFill/>
        </p:spPr>
        <p:txBody>
          <a:bodyPr wrap="square" lIns="54864" tIns="27432" rIns="45720" bIns="27432">
            <a:spAutoFit/>
          </a:bodyPr>
          <a:lstStyle/>
          <a:p>
            <a:r>
              <a:rPr sz="1600" b="1">
                <a:solidFill>
                  <a:srgbClr val="121F38"/>
                </a:solidFill>
                <a:latin typeface="Aptos"/>
              </a:rPr>
              <a:t>Represent</a:t>
            </a:r>
          </a:p>
        </p:txBody>
      </p:sp>
      <p:sp>
        <p:nvSpPr>
          <p:cNvPr id="8" name="TextBox 7"/>
          <p:cNvSpPr txBox="1"/>
          <p:nvPr/>
        </p:nvSpPr>
        <p:spPr>
          <a:xfrm>
            <a:off x="1069848" y="4791456"/>
            <a:ext cx="2788920" cy="484631"/>
          </a:xfrm>
          <a:prstGeom prst="rect">
            <a:avLst/>
          </a:prstGeom>
          <a:noFill/>
        </p:spPr>
        <p:txBody>
          <a:bodyPr wrap="square" lIns="54864" tIns="27432" rIns="45720" bIns="27432">
            <a:spAutoFit/>
          </a:bodyPr>
          <a:lstStyle/>
          <a:p>
            <a:r>
              <a:rPr sz="1300" b="0">
                <a:solidFill>
                  <a:srgbClr val="283446"/>
                </a:solidFill>
                <a:latin typeface="Aptos"/>
              </a:rPr>
              <a:t>Webpages and user transitions as a graph</a:t>
            </a:r>
          </a:p>
        </p:txBody>
      </p:sp>
      <p:sp>
        <p:nvSpPr>
          <p:cNvPr id="9" name="Rounded Rectangle 8"/>
          <p:cNvSpPr/>
          <p:nvPr/>
        </p:nvSpPr>
        <p:spPr>
          <a:xfrm>
            <a:off x="4343400" y="4297680"/>
            <a:ext cx="3154680" cy="105156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4343400"/>
            <a:ext cx="64008" cy="960119"/>
          </a:xfrm>
          <a:prstGeom prst="rect">
            <a:avLst/>
          </a:prstGeom>
          <a:solidFill>
            <a:srgbClr val="3FB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44568" y="4425696"/>
            <a:ext cx="2788920" cy="310896"/>
          </a:xfrm>
          <a:prstGeom prst="rect">
            <a:avLst/>
          </a:prstGeom>
          <a:noFill/>
        </p:spPr>
        <p:txBody>
          <a:bodyPr wrap="square" lIns="54864" tIns="27432" rIns="45720" bIns="27432">
            <a:spAutoFit/>
          </a:bodyPr>
          <a:lstStyle/>
          <a:p>
            <a:r>
              <a:rPr sz="1600" b="1">
                <a:solidFill>
                  <a:srgbClr val="121F38"/>
                </a:solidFill>
                <a:latin typeface="Aptos"/>
              </a:rPr>
              <a:t>Analyze</a:t>
            </a:r>
          </a:p>
        </p:txBody>
      </p:sp>
      <p:sp>
        <p:nvSpPr>
          <p:cNvPr id="12" name="TextBox 11"/>
          <p:cNvSpPr txBox="1"/>
          <p:nvPr/>
        </p:nvSpPr>
        <p:spPr>
          <a:xfrm>
            <a:off x="4544568" y="4791456"/>
            <a:ext cx="2788920" cy="484631"/>
          </a:xfrm>
          <a:prstGeom prst="rect">
            <a:avLst/>
          </a:prstGeom>
          <a:noFill/>
        </p:spPr>
        <p:txBody>
          <a:bodyPr wrap="square" lIns="54864" tIns="27432" rIns="45720" bIns="27432">
            <a:spAutoFit/>
          </a:bodyPr>
          <a:lstStyle/>
          <a:p>
            <a:r>
              <a:rPr sz="1300" b="0">
                <a:solidFill>
                  <a:srgbClr val="283446"/>
                </a:solidFill>
                <a:latin typeface="Aptos"/>
              </a:rPr>
              <a:t>Paths, importance and communities</a:t>
            </a:r>
          </a:p>
        </p:txBody>
      </p:sp>
      <p:sp>
        <p:nvSpPr>
          <p:cNvPr id="13" name="Rounded Rectangle 12"/>
          <p:cNvSpPr/>
          <p:nvPr/>
        </p:nvSpPr>
        <p:spPr>
          <a:xfrm>
            <a:off x="7818120" y="4297680"/>
            <a:ext cx="3154680" cy="1051560"/>
          </a:xfrm>
          <a:prstGeom prst="roundRect">
            <a:avLst/>
          </a:prstGeom>
          <a:solidFill>
            <a:srgbClr val="FFFFFF"/>
          </a:solidFill>
          <a:ln>
            <a:solidFill>
              <a:srgbClr val="DC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818120" y="4343400"/>
            <a:ext cx="64008" cy="960119"/>
          </a:xfrm>
          <a:prstGeom prst="rect">
            <a:avLst/>
          </a:prstGeom>
          <a:solidFill>
            <a:srgbClr val="369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19288" y="4425696"/>
            <a:ext cx="2788920" cy="310896"/>
          </a:xfrm>
          <a:prstGeom prst="rect">
            <a:avLst/>
          </a:prstGeom>
          <a:noFill/>
        </p:spPr>
        <p:txBody>
          <a:bodyPr wrap="square" lIns="54864" tIns="27432" rIns="45720" bIns="27432">
            <a:spAutoFit/>
          </a:bodyPr>
          <a:lstStyle/>
          <a:p>
            <a:r>
              <a:rPr sz="1600" b="1">
                <a:solidFill>
                  <a:srgbClr val="121F38"/>
                </a:solidFill>
                <a:latin typeface="Aptos"/>
              </a:rPr>
              <a:t>Communicate</a:t>
            </a:r>
          </a:p>
        </p:txBody>
      </p:sp>
      <p:sp>
        <p:nvSpPr>
          <p:cNvPr id="16" name="TextBox 15"/>
          <p:cNvSpPr txBox="1"/>
          <p:nvPr/>
        </p:nvSpPr>
        <p:spPr>
          <a:xfrm>
            <a:off x="8019288" y="4791456"/>
            <a:ext cx="2788920" cy="484631"/>
          </a:xfrm>
          <a:prstGeom prst="rect">
            <a:avLst/>
          </a:prstGeom>
          <a:noFill/>
        </p:spPr>
        <p:txBody>
          <a:bodyPr wrap="square" lIns="54864" tIns="27432" rIns="45720" bIns="27432">
            <a:spAutoFit/>
          </a:bodyPr>
          <a:lstStyle/>
          <a:p>
            <a:r>
              <a:rPr sz="1300" b="0">
                <a:solidFill>
                  <a:srgbClr val="283446"/>
                </a:solidFill>
                <a:latin typeface="Aptos"/>
              </a:rPr>
              <a:t>Dashboard views and CSV outputs</a:t>
            </a:r>
          </a:p>
        </p:txBody>
      </p:sp>
      <p:sp>
        <p:nvSpPr>
          <p:cNvPr id="17" name="TextBox 16"/>
          <p:cNvSpPr txBox="1"/>
          <p:nvPr/>
        </p:nvSpPr>
        <p:spPr>
          <a:xfrm>
            <a:off x="868680" y="5989320"/>
            <a:ext cx="5486400" cy="286232"/>
          </a:xfrm>
          <a:prstGeom prst="rect">
            <a:avLst/>
          </a:prstGeom>
          <a:noFill/>
        </p:spPr>
        <p:txBody>
          <a:bodyPr wrap="square" lIns="54864" tIns="27432" rIns="45720" bIns="27432">
            <a:spAutoFit/>
          </a:bodyPr>
          <a:lstStyle/>
          <a:p>
            <a:r>
              <a:rPr sz="1500" b="1" dirty="0">
                <a:solidFill>
                  <a:srgbClr val="FFFFFF"/>
                </a:solidFill>
                <a:latin typeface="Aptos"/>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TotalTime>
  <Words>879</Words>
  <Application>Microsoft Office PowerPoint</Application>
  <PresentationFormat>Widescreen</PresentationFormat>
  <Paragraphs>158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Gullapalli Sheetal</cp:lastModifiedBy>
  <cp:revision>3</cp:revision>
  <dcterms:created xsi:type="dcterms:W3CDTF">2013-01-27T09:14:16Z</dcterms:created>
  <dcterms:modified xsi:type="dcterms:W3CDTF">2026-10-29T05:30:36Z</dcterms:modified>
  <cp:category/>
</cp:coreProperties>
</file>